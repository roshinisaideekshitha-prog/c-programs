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306" r:id="rId6"/>
    <p:sldId id="285" r:id="rId7"/>
    <p:sldId id="284" r:id="rId8"/>
    <p:sldId id="288" r:id="rId9"/>
    <p:sldId id="287" r:id="rId10"/>
    <p:sldId id="292" r:id="rId11"/>
    <p:sldId id="301" r:id="rId12"/>
    <p:sldId id="293" r:id="rId13"/>
    <p:sldId id="294" r:id="rId14"/>
    <p:sldId id="302" r:id="rId15"/>
    <p:sldId id="304" r:id="rId16"/>
    <p:sldId id="305" r:id="rId17"/>
    <p:sldId id="295" r:id="rId18"/>
    <p:sldId id="303" r:id="rId19"/>
    <p:sldId id="296" r:id="rId20"/>
    <p:sldId id="268" r:id="rId21"/>
    <p:sldId id="269" r:id="rId2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EC5D79-4C37-449E-9838-FC88CFC4B92D}" v="2" dt="2026-09-19T04:58:31.4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bby Bolisetti" userId="c690cdc5ff031608" providerId="LiveId" clId="{C9AAEE7D-D7D3-47BE-BEDA-25FA613F6333}"/>
    <pc:docChg chg="modSld">
      <pc:chgData name="Bobby Bolisetti" userId="c690cdc5ff031608" providerId="LiveId" clId="{C9AAEE7D-D7D3-47BE-BEDA-25FA613F6333}" dt="2026-09-19T04:57:47.948" v="29" actId="20577"/>
      <pc:docMkLst>
        <pc:docMk/>
      </pc:docMkLst>
      <pc:sldChg chg="modSp mod">
        <pc:chgData name="Bobby Bolisetti" userId="c690cdc5ff031608" providerId="LiveId" clId="{C9AAEE7D-D7D3-47BE-BEDA-25FA613F6333}" dt="2026-09-19T04:57:47.948" v="29" actId="20577"/>
        <pc:sldMkLst>
          <pc:docMk/>
          <pc:sldMk cId="26077263" sldId="300"/>
        </pc:sldMkLst>
        <pc:graphicFrameChg chg="mod modGraphic">
          <ac:chgData name="Bobby Bolisetti" userId="c690cdc5ff031608" providerId="LiveId" clId="{C9AAEE7D-D7D3-47BE-BEDA-25FA613F6333}" dt="2026-09-19T04:57:47.948" v="29" actId="20577"/>
          <ac:graphicFrameMkLst>
            <pc:docMk/>
            <pc:sldMk cId="26077263" sldId="300"/>
            <ac:graphicFrameMk id="8" creationId="{6868135D-2434-0DED-8032-2E4FD49790DB}"/>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25-09-2026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7.png"/><Relationship Id="rId7" Type="http://schemas.openxmlformats.org/officeDocument/2006/relationships/image" Target="../media/image21.jpe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7.png"/><Relationship Id="rId7" Type="http://schemas.openxmlformats.org/officeDocument/2006/relationships/image" Target="../media/image23.jpe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6.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7.png"/><Relationship Id="rId7" Type="http://schemas.openxmlformats.org/officeDocument/2006/relationships/image" Target="../media/image28.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7.png"/><Relationship Id="rId7" Type="http://schemas.openxmlformats.org/officeDocument/2006/relationships/image" Target="../media/image31.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265624" y="1197215"/>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Course</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 (Review I &amp; II)</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169090"/>
          </a:xfrm>
          <a:prstGeom prst="rect">
            <a:avLst/>
          </a:prstGeom>
        </p:spPr>
        <p:txBody>
          <a:bodyPr vert="horz" wrap="square" lIns="0" tIns="16510" rIns="0" bIns="0" rtlCol="0">
            <a:spAutoFit/>
          </a:bodyPr>
          <a:lstStyle/>
          <a:p>
            <a:pPr algn="ctr">
              <a:spcBef>
                <a:spcPts val="115"/>
              </a:spcBef>
            </a:pPr>
            <a:r>
              <a:rPr lang="en-IN" sz="3200" dirty="0">
                <a:solidFill>
                  <a:srgbClr val="7030A0"/>
                </a:solidFill>
                <a:latin typeface="Times New Roman" panose="02020603050405020304" pitchFamily="18" charset="0"/>
                <a:cs typeface="Times New Roman" panose="02020603050405020304" pitchFamily="18" charset="0"/>
              </a:rPr>
              <a:t>University Academic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B.TARAKA RAJESH (25B11AI094)</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J.DEEKSHITHA (25B11AI418)</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K.ASHOK(25B11AI479)</a:t>
            </a: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B,DHARANI SRI (25B11AI170)</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AF50144-25CE-6EF6-5BD1-95911007CF1B}"/>
              </a:ext>
            </a:extLst>
          </p:cNvPr>
          <p:cNvSpPr txBox="1"/>
          <p:nvPr/>
        </p:nvSpPr>
        <p:spPr>
          <a:xfrm>
            <a:off x="3352800" y="6477000"/>
            <a:ext cx="3657600" cy="923330"/>
          </a:xfrm>
          <a:prstGeom prst="rect">
            <a:avLst/>
          </a:prstGeom>
          <a:noFill/>
        </p:spPr>
        <p:txBody>
          <a:bodyPr wrap="square" rtlCol="0">
            <a:spAutoFit/>
          </a:bodyPr>
          <a:lstStyle/>
          <a:p>
            <a:r>
              <a:rPr lang="en-US" b="1" dirty="0">
                <a:solidFill>
                  <a:srgbClr val="00B050"/>
                </a:solidFill>
                <a:latin typeface="Times New Roman" panose="02020603050405020304" pitchFamily="18" charset="0"/>
                <a:cs typeface="Times New Roman" panose="02020603050405020304" pitchFamily="18" charset="0"/>
              </a:rPr>
              <a:t>                    Guided by</a:t>
            </a:r>
          </a:p>
          <a:p>
            <a:endParaRPr lang="en-US" b="1" dirty="0">
              <a:solidFill>
                <a:srgbClr val="00B050"/>
              </a:solidFill>
              <a:latin typeface="Times New Roman" panose="02020603050405020304" pitchFamily="18" charset="0"/>
              <a:cs typeface="Times New Roman" panose="02020603050405020304" pitchFamily="18" charset="0"/>
            </a:endParaRPr>
          </a:p>
          <a:p>
            <a:r>
              <a:rPr lang="en-US" dirty="0">
                <a:solidFill>
                  <a:srgbClr val="00B050"/>
                </a:solidFill>
                <a:latin typeface="Times New Roman" panose="02020603050405020304" pitchFamily="18" charset="0"/>
                <a:cs typeface="Times New Roman" panose="02020603050405020304" pitchFamily="18" charset="0"/>
              </a:rPr>
              <a:t>           </a:t>
            </a:r>
            <a:r>
              <a:rPr lang="en-US" b="1" dirty="0">
                <a:solidFill>
                  <a:srgbClr val="00B050"/>
                </a:solidFill>
                <a:latin typeface="Times New Roman" panose="02020603050405020304" pitchFamily="18" charset="0"/>
                <a:cs typeface="Times New Roman" panose="02020603050405020304" pitchFamily="18" charset="0"/>
              </a:rPr>
              <a:t>Mrs. V.G.L Narasamba</a:t>
            </a:r>
            <a:endParaRPr lang="en-IN" dirty="0">
              <a:solidFill>
                <a:srgbClr val="00B0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7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000" dirty="0">
                <a:latin typeface="Times New Roman" panose="02020603050405020304" pitchFamily="18" charset="0"/>
                <a:cs typeface="Times New Roman" panose="02020603050405020304" pitchFamily="18" charset="0"/>
              </a:rPr>
              <a:t>Abstract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Finalize title, objectives &amp; problem statement</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Identify entities &amp; attributes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Design ER diagram &amp; relationships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Prepare relational database schema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Define Primary &amp; Foreign Keys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Create GitHub repo &amp; responsibilities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5100000" y="1497893"/>
            <a:ext cx="4100000" cy="4587153"/>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startAt="9"/>
              <a:tabLst>
                <a:tab pos="389890" algn="l"/>
              </a:tabLst>
            </a:pPr>
            <a:r>
              <a:rPr lang="en-IN" sz="2000" dirty="0">
                <a:latin typeface="Times New Roman" panose="02020603050405020304" pitchFamily="18" charset="0"/>
                <a:cs typeface="Times New Roman" panose="02020603050405020304" pitchFamily="18" charset="0"/>
              </a:rPr>
              <a:t>Insert sample data</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DDL, DML &amp; DQL operations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integrity &amp; validation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Course documentation</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Demonstrate &amp; present database</a:t>
            </a:r>
          </a:p>
          <a:p>
            <a:pPr marL="389890" indent="-377190">
              <a:lnSpc>
                <a:spcPct val="100000"/>
              </a:lnSpc>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8" name="TextBox 7">
            <a:extLst>
              <a:ext uri="{FF2B5EF4-FFF2-40B4-BE49-F238E27FC236}">
                <a16:creationId xmlns:a16="http://schemas.microsoft.com/office/drawing/2014/main" id="{9836644C-A9AB-C7BA-C29D-2CF8251972DE}"/>
              </a:ext>
            </a:extLst>
          </p:cNvPr>
          <p:cNvSpPr txBox="1"/>
          <p:nvPr/>
        </p:nvSpPr>
        <p:spPr>
          <a:xfrm>
            <a:off x="898271" y="1676400"/>
            <a:ext cx="8686800" cy="4093428"/>
          </a:xfrm>
          <a:prstGeom prst="rect">
            <a:avLst/>
          </a:prstGeom>
          <a:noFill/>
        </p:spPr>
        <p:txBody>
          <a:bodyPr wrap="square">
            <a:spAutoFit/>
          </a:bodyPr>
          <a:lstStyle/>
          <a:p>
            <a:pPr algn="just">
              <a:defRPr sz="1800"/>
            </a:pPr>
            <a:r>
              <a:t>The University Academic Management System is a database management application developed to efficiently manage students, departments, faculty, courses, enrollments, examinations, and academic records. The main objective is to organize academic information in a centralized database, reducing manual work and improving accuracy. The project is implemented using Oracle and follows DBMS principles including normalization, primary keys, foreign keys, relationships, and integrity constraints. The database supports efficient academic record management, course enrollment, faculty management, examination tracking, and quick retrieval of information.</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11" name="TextBox 10">
            <a:extLst>
              <a:ext uri="{FF2B5EF4-FFF2-40B4-BE49-F238E27FC236}">
                <a16:creationId xmlns:a16="http://schemas.microsoft.com/office/drawing/2014/main" id="{5056A999-5410-EE32-A15E-BC030B18D29B}"/>
              </a:ext>
            </a:extLst>
          </p:cNvPr>
          <p:cNvSpPr txBox="1"/>
          <p:nvPr/>
        </p:nvSpPr>
        <p:spPr>
          <a:xfrm>
            <a:off x="872251" y="2438400"/>
            <a:ext cx="8839948" cy="3785652"/>
          </a:xfrm>
          <a:prstGeom prst="rect">
            <a:avLst/>
          </a:prstGeom>
          <a:noFill/>
        </p:spPr>
        <p:txBody>
          <a:bodyPr wrap="square">
            <a:spAutoFit/>
          </a:bodyPr>
          <a:lstStyle/>
          <a:p>
            <a:pPr marL="342900" indent="-342900" algn="just">
              <a:buFont typeface="Wingdings" panose="05000000000000000000" pitchFamily="2" charset="2"/>
              <a:buChar char="v"/>
              <a:defRPr sz="1800"/>
            </a:pPr>
            <a:r>
              <a:t>Managing university academic records manually is difficult and time-consuming.</a:t>
            </a:r>
          </a:p>
          <a:p>
            <a:pPr>
              <a:defRPr sz="1800"/>
            </a:pPr>
            <a:r>
              <a:t>Student, faculty, department, and course information may not be stored in one place.</a:t>
            </a:r>
          </a:p>
          <a:p>
            <a:pPr>
              <a:defRPr sz="1800"/>
            </a:pPr>
            <a:r>
              <a:t>It is difficult to track course enrollments and examination records efficiently.</a:t>
            </a:r>
          </a:p>
          <a:p>
            <a:pPr>
              <a:defRPr sz="1800"/>
            </a:pPr>
            <a:r>
              <a:t>Manual records can lead to errors, duplicate data, and inconsistent information.</a:t>
            </a:r>
          </a:p>
          <a:p>
            <a:pPr>
              <a:defRPr sz="1800"/>
            </a:pPr>
            <a:r>
              <a:t>Academic data needs proper organization, security, and integrity.</a:t>
            </a:r>
          </a:p>
          <a:p>
            <a:pPr>
              <a:defRPr sz="1800"/>
            </a:pPr>
            <a:r>
              <a:t>A centralized database system is needed to manage university academic information efficiently.</a:t>
            </a:r>
          </a:p>
        </p:txBody>
      </p:sp>
      <p:sp>
        <p:nvSpPr>
          <p:cNvPr id="12" name="TextBox 11">
            <a:extLst>
              <a:ext uri="{FF2B5EF4-FFF2-40B4-BE49-F238E27FC236}">
                <a16:creationId xmlns:a16="http://schemas.microsoft.com/office/drawing/2014/main" id="{27CA296D-65ED-14EE-6FEA-36C37A2D8ECE}"/>
              </a:ext>
            </a:extLst>
          </p:cNvPr>
          <p:cNvSpPr txBox="1"/>
          <p:nvPr/>
        </p:nvSpPr>
        <p:spPr>
          <a:xfrm>
            <a:off x="708089" y="1424165"/>
            <a:ext cx="3276600" cy="492443"/>
          </a:xfrm>
          <a:prstGeom prst="rect">
            <a:avLst/>
          </a:prstGeom>
          <a:noFill/>
        </p:spPr>
        <p:txBody>
          <a:bodyPr wrap="square" rtlCol="0">
            <a:spAutoFit/>
          </a:bodyPr>
          <a:lstStyle/>
          <a:p>
            <a:r>
              <a:rPr lang="en-US" sz="2600" b="1" dirty="0"/>
              <a:t>Problem Statement</a:t>
            </a:r>
            <a:endParaRPr lang="en-IN" sz="2600" b="1"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9AEDD-5972-7348-3BA7-617C9A65657A}"/>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A74F7086-7C95-35B8-B3FC-6B42447D8A14}"/>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3B49C6A3-C4BF-D04D-A0BF-AA4B454ABA93}"/>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AC811A2-3186-53C9-A36A-2B54069C322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73B53E66-4071-EEA0-5555-1D85140F2DC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32E5F73-72F7-43F7-F8B2-57D7D748CF2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1B56F7D8-A74E-00E5-83C1-A87D5E5961A4}"/>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6E4E6B65-721E-C526-B4AA-FF8C809DDB65}"/>
              </a:ext>
            </a:extLst>
          </p:cNvPr>
          <p:cNvPicPr/>
          <p:nvPr/>
        </p:nvPicPr>
        <p:blipFill>
          <a:blip r:embed="rId5" cstate="print"/>
          <a:stretch>
            <a:fillRect/>
          </a:stretch>
        </p:blipFill>
        <p:spPr>
          <a:xfrm>
            <a:off x="290750" y="204311"/>
            <a:ext cx="1163002" cy="424338"/>
          </a:xfrm>
          <a:prstGeom prst="rect">
            <a:avLst/>
          </a:prstGeom>
        </p:spPr>
      </p:pic>
      <p:sp>
        <p:nvSpPr>
          <p:cNvPr id="11" name="TextBox 10">
            <a:extLst>
              <a:ext uri="{FF2B5EF4-FFF2-40B4-BE49-F238E27FC236}">
                <a16:creationId xmlns:a16="http://schemas.microsoft.com/office/drawing/2014/main" id="{E6BB09D0-263D-812B-20C2-B1D680E122FB}"/>
              </a:ext>
            </a:extLst>
          </p:cNvPr>
          <p:cNvSpPr txBox="1"/>
          <p:nvPr/>
        </p:nvSpPr>
        <p:spPr>
          <a:xfrm>
            <a:off x="1453752" y="2514600"/>
            <a:ext cx="8839948" cy="4031873"/>
          </a:xfrm>
          <a:prstGeom prst="rect">
            <a:avLst/>
          </a:prstGeom>
          <a:noFill/>
        </p:spPr>
        <p:txBody>
          <a:bodyPr wrap="square">
            <a:spAutoFit/>
          </a:bodyPr>
          <a:lstStyle/>
          <a:p>
            <a:pPr marL="342900" indent="-342900">
              <a:buFont typeface="+mj-lt"/>
              <a:buAutoNum type="arabicPeriod"/>
            </a:pPr>
            <a:r>
              <a:rPr lang="en-US" sz="1600" dirty="0"/>
              <a:t>To maintain all academic information in a centralized database.</a:t>
            </a:r>
          </a:p>
          <a:p>
            <a:pPr marL="342900" indent="-342900">
              <a:buFont typeface="+mj-lt"/>
              <a:buAutoNum type="arabicPeriod"/>
            </a:pPr>
            <a:endParaRPr lang="en-US" sz="1600" dirty="0"/>
          </a:p>
          <a:p>
            <a:pPr marL="342900" indent="-342900">
              <a:buFont typeface="+mj-lt"/>
              <a:buAutoNum type="arabicPeriod"/>
            </a:pPr>
            <a:r>
              <a:rPr lang="en-US" sz="1600" dirty="0"/>
              <a:t>To stores and manage student, faculty, and department details efficiently.</a:t>
            </a:r>
          </a:p>
          <a:p>
            <a:pPr marL="342900" indent="-342900">
              <a:buFont typeface="+mj-lt"/>
              <a:buAutoNum type="arabicPeriod"/>
            </a:pPr>
            <a:endParaRPr lang="en-US" sz="1600" dirty="0"/>
          </a:p>
          <a:p>
            <a:pPr marL="342900" indent="-342900">
              <a:buFont typeface="+mj-lt"/>
              <a:buAutoNum type="arabicPeriod"/>
            </a:pPr>
            <a:r>
              <a:rPr lang="en-US" sz="1600" dirty="0"/>
              <a:t>To reduce the data redundancy and improve data accuracy.</a:t>
            </a:r>
          </a:p>
          <a:p>
            <a:pPr marL="342900" indent="-342900">
              <a:buFont typeface="+mj-lt"/>
              <a:buAutoNum type="arabicPeriod"/>
            </a:pPr>
            <a:endParaRPr lang="en-US" sz="1600" dirty="0"/>
          </a:p>
          <a:p>
            <a:pPr marL="342900" indent="-342900">
              <a:buFont typeface="+mj-lt"/>
              <a:buAutoNum type="arabicPeriod"/>
            </a:pPr>
            <a:r>
              <a:rPr lang="en-US" sz="1600" dirty="0"/>
              <a:t>To maintain data integrity using primary keys and foreign keys.</a:t>
            </a:r>
          </a:p>
          <a:p>
            <a:pPr marL="342900" indent="-342900">
              <a:buFont typeface="+mj-lt"/>
              <a:buAutoNum type="arabicPeriod"/>
            </a:pPr>
            <a:endParaRPr lang="en-US" sz="1600" dirty="0"/>
          </a:p>
          <a:p>
            <a:pPr marL="342900" indent="-342900">
              <a:buFont typeface="+mj-lt"/>
              <a:buAutoNum type="arabicPeriod"/>
            </a:pPr>
            <a:r>
              <a:rPr lang="en-US" sz="1600" dirty="0"/>
              <a:t>To provide quick and easy access to project-related information.</a:t>
            </a:r>
          </a:p>
          <a:p>
            <a:pPr marL="342900" indent="-342900">
              <a:buFont typeface="+mj-lt"/>
              <a:buAutoNum type="arabicPeriod"/>
            </a:pPr>
            <a:endParaRPr lang="en-US" sz="1600" dirty="0"/>
          </a:p>
          <a:p>
            <a:pPr marL="342900" indent="-342900">
              <a:buFont typeface="+mj-lt"/>
              <a:buAutoNum type="arabicPeriod"/>
            </a:pPr>
            <a:r>
              <a:rPr lang="en-US" sz="1600" dirty="0"/>
              <a:t>To improve the overall efficiency of academic management.</a:t>
            </a:r>
          </a:p>
          <a:p>
            <a:pPr marL="342900" indent="-342900">
              <a:buFont typeface="+mj-lt"/>
              <a:buAutoNum type="arabicPeriod"/>
            </a:pPr>
            <a:endParaRPr lang="en-US" sz="1600" dirty="0"/>
          </a:p>
          <a:p>
            <a:pPr marL="342900" indent="-342900">
              <a:buFont typeface="+mj-lt"/>
              <a:buAutoNum type="arabicPeriod"/>
            </a:pPr>
            <a:r>
              <a:rPr lang="en-US" sz="1600" dirty="0"/>
              <a:t>To assign and monitor tasks for employees.</a:t>
            </a:r>
          </a:p>
          <a:p>
            <a:pPr marL="342900" indent="-342900">
              <a:buFont typeface="+mj-lt"/>
              <a:buAutoNum type="arabicPeriod"/>
            </a:pPr>
            <a:endParaRPr lang="en-US" sz="1600" dirty="0"/>
          </a:p>
          <a:p>
            <a:pPr marL="342900" indent="-342900">
              <a:buFont typeface="+mj-lt"/>
              <a:buAutoNum type="arabicPeriod"/>
            </a:pPr>
            <a:r>
              <a:rPr lang="en-US" sz="1600" dirty="0"/>
              <a:t>To maintain courses and track their development.</a:t>
            </a:r>
          </a:p>
          <a:p>
            <a:pPr marL="342900" indent="-342900" algn="just">
              <a:buFont typeface="Wingdings" panose="05000000000000000000" pitchFamily="2" charset="2"/>
              <a:buChar char="v"/>
            </a:pPr>
            <a:endParaRPr lang="en-IN" sz="1600" dirty="0"/>
          </a:p>
        </p:txBody>
      </p:sp>
      <p:sp>
        <p:nvSpPr>
          <p:cNvPr id="12" name="TextBox 11">
            <a:extLst>
              <a:ext uri="{FF2B5EF4-FFF2-40B4-BE49-F238E27FC236}">
                <a16:creationId xmlns:a16="http://schemas.microsoft.com/office/drawing/2014/main" id="{1EF6233E-703E-D85B-F014-66177CF50163}"/>
              </a:ext>
            </a:extLst>
          </p:cNvPr>
          <p:cNvSpPr txBox="1"/>
          <p:nvPr/>
        </p:nvSpPr>
        <p:spPr>
          <a:xfrm>
            <a:off x="609600" y="1481614"/>
            <a:ext cx="7772400" cy="492443"/>
          </a:xfrm>
          <a:prstGeom prst="rect">
            <a:avLst/>
          </a:prstGeom>
          <a:noFill/>
        </p:spPr>
        <p:txBody>
          <a:bodyPr wrap="square" rtlCol="0">
            <a:spAutoFit/>
          </a:bodyPr>
          <a:lstStyle/>
          <a:p>
            <a:r>
              <a:rPr lang="en-US" sz="2600" b="1" dirty="0"/>
              <a:t>Objectives of University Academic Management System</a:t>
            </a:r>
            <a:endParaRPr lang="en-IN" sz="2600" b="1" dirty="0"/>
          </a:p>
        </p:txBody>
      </p:sp>
    </p:spTree>
    <p:extLst>
      <p:ext uri="{BB962C8B-B14F-4D97-AF65-F5344CB8AC3E}">
        <p14:creationId xmlns:p14="http://schemas.microsoft.com/office/powerpoint/2010/main" val="3959472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sp>
        <p:nvSpPr>
          <p:cNvPr id="10" name="TextBox 9">
            <a:extLst>
              <a:ext uri="{FF2B5EF4-FFF2-40B4-BE49-F238E27FC236}">
                <a16:creationId xmlns:a16="http://schemas.microsoft.com/office/drawing/2014/main" id="{9C6BEB79-E2FD-6149-4F1C-C581B400CC4C}"/>
              </a:ext>
            </a:extLst>
          </p:cNvPr>
          <p:cNvSpPr txBox="1"/>
          <p:nvPr/>
        </p:nvSpPr>
        <p:spPr>
          <a:xfrm>
            <a:off x="368712" y="1194276"/>
            <a:ext cx="2074606" cy="2585323"/>
          </a:xfrm>
          <a:prstGeom prst="rect">
            <a:avLst/>
          </a:prstGeom>
          <a:noFill/>
        </p:spPr>
        <p:txBody>
          <a:bodyPr wrap="square" rtlCol="0">
            <a:spAutoFit/>
          </a:bodyPr>
          <a:lstStyle/>
          <a:p>
            <a:r>
              <a:rPr lang="en-US" b="1" dirty="0"/>
              <a:t>Student</a:t>
            </a:r>
          </a:p>
          <a:p>
            <a:endParaRPr lang="en-US" b="1" dirty="0"/>
          </a:p>
          <a:p>
            <a:r>
              <a:rPr lang="en-US" b="1" dirty="0"/>
              <a:t>Student_ID</a:t>
            </a:r>
          </a:p>
          <a:p>
            <a:r>
              <a:rPr lang="en-US" b="1" dirty="0"/>
              <a:t>Student_Name</a:t>
            </a:r>
          </a:p>
          <a:p>
            <a:r>
              <a:rPr lang="en-US" b="1" dirty="0"/>
              <a:t>Email</a:t>
            </a:r>
          </a:p>
          <a:p>
            <a:r>
              <a:rPr lang="en-US" b="1" dirty="0"/>
              <a:t>Phone</a:t>
            </a:r>
          </a:p>
          <a:p>
            <a:r>
              <a:rPr lang="en-US" b="1" dirty="0"/>
              <a:t>Designation</a:t>
            </a:r>
          </a:p>
          <a:p>
            <a:r>
              <a:rPr lang="en-US" b="1" dirty="0"/>
              <a:t>Salary</a:t>
            </a:r>
          </a:p>
          <a:p>
            <a:r>
              <a:rPr lang="en-US" b="1" dirty="0"/>
              <a:t>Experience</a:t>
            </a:r>
            <a:endParaRPr lang="en-IN" b="1" dirty="0"/>
          </a:p>
        </p:txBody>
      </p:sp>
      <p:sp>
        <p:nvSpPr>
          <p:cNvPr id="12" name="TextBox 11">
            <a:extLst>
              <a:ext uri="{FF2B5EF4-FFF2-40B4-BE49-F238E27FC236}">
                <a16:creationId xmlns:a16="http://schemas.microsoft.com/office/drawing/2014/main" id="{4BB7BB56-FD96-2603-140F-52EE84729C38}"/>
              </a:ext>
            </a:extLst>
          </p:cNvPr>
          <p:cNvSpPr txBox="1"/>
          <p:nvPr/>
        </p:nvSpPr>
        <p:spPr>
          <a:xfrm>
            <a:off x="7255071" y="1224274"/>
            <a:ext cx="2379406" cy="2585323"/>
          </a:xfrm>
          <a:prstGeom prst="rect">
            <a:avLst/>
          </a:prstGeom>
          <a:noFill/>
        </p:spPr>
        <p:txBody>
          <a:bodyPr wrap="square" rtlCol="0">
            <a:spAutoFit/>
          </a:bodyPr>
          <a:lstStyle/>
          <a:p>
            <a:r>
              <a:rPr lang="en-US" b="1" dirty="0"/>
              <a:t>Department</a:t>
            </a:r>
          </a:p>
          <a:p>
            <a:endParaRPr lang="en-US" b="1" dirty="0"/>
          </a:p>
          <a:p>
            <a:r>
              <a:rPr lang="en-US" b="1" dirty="0"/>
              <a:t>Department_ID</a:t>
            </a:r>
          </a:p>
          <a:p>
            <a:r>
              <a:rPr lang="en-US" b="1" dirty="0"/>
              <a:t>Department_Name</a:t>
            </a:r>
          </a:p>
          <a:p>
            <a:r>
              <a:rPr lang="en-US" b="1" dirty="0"/>
              <a:t>Department_HOD</a:t>
            </a:r>
          </a:p>
          <a:p>
            <a:r>
              <a:rPr lang="en-US" b="1" dirty="0"/>
              <a:t>Email</a:t>
            </a:r>
          </a:p>
          <a:p>
            <a:r>
              <a:rPr lang="en-US" b="1" dirty="0"/>
              <a:t>Phone</a:t>
            </a:r>
          </a:p>
          <a:p>
            <a:r>
              <a:rPr lang="en-US" b="1" dirty="0"/>
              <a:t>Address</a:t>
            </a:r>
          </a:p>
          <a:p>
            <a:endParaRPr lang="en-US" b="1" dirty="0"/>
          </a:p>
        </p:txBody>
      </p:sp>
      <p:sp>
        <p:nvSpPr>
          <p:cNvPr id="14" name="TextBox 13">
            <a:extLst>
              <a:ext uri="{FF2B5EF4-FFF2-40B4-BE49-F238E27FC236}">
                <a16:creationId xmlns:a16="http://schemas.microsoft.com/office/drawing/2014/main" id="{68A00E71-0984-B27E-DA87-AFCFDF03D632}"/>
              </a:ext>
            </a:extLst>
          </p:cNvPr>
          <p:cNvSpPr txBox="1"/>
          <p:nvPr/>
        </p:nvSpPr>
        <p:spPr>
          <a:xfrm>
            <a:off x="3985003" y="1196754"/>
            <a:ext cx="2467897" cy="2585323"/>
          </a:xfrm>
          <a:prstGeom prst="rect">
            <a:avLst/>
          </a:prstGeom>
          <a:noFill/>
        </p:spPr>
        <p:txBody>
          <a:bodyPr wrap="square" rtlCol="0">
            <a:spAutoFit/>
          </a:bodyPr>
          <a:lstStyle/>
          <a:p>
            <a:r>
              <a:rPr lang="en-US" b="1" dirty="0"/>
              <a:t>Course</a:t>
            </a:r>
          </a:p>
          <a:p>
            <a:endParaRPr lang="en-US" b="1" dirty="0"/>
          </a:p>
          <a:p>
            <a:r>
              <a:rPr lang="en-US" b="1" dirty="0"/>
              <a:t>Course_ID</a:t>
            </a:r>
          </a:p>
          <a:p>
            <a:r>
              <a:rPr lang="en-US" b="1" dirty="0"/>
              <a:t>Course_Name</a:t>
            </a:r>
          </a:p>
          <a:p>
            <a:r>
              <a:rPr lang="en-US" b="1" dirty="0"/>
              <a:t>Department_ID</a:t>
            </a:r>
          </a:p>
          <a:p>
            <a:r>
              <a:rPr lang="en-US" b="1" dirty="0"/>
              <a:t>Start_Date</a:t>
            </a:r>
          </a:p>
          <a:p>
            <a:r>
              <a:rPr lang="en-US" b="1" dirty="0"/>
              <a:t>End_Date</a:t>
            </a:r>
          </a:p>
          <a:p>
            <a:r>
              <a:rPr lang="en-US" b="1" dirty="0"/>
              <a:t>Budget</a:t>
            </a:r>
          </a:p>
          <a:p>
            <a:r>
              <a:rPr lang="en-US" b="1" dirty="0"/>
              <a:t>Status</a:t>
            </a:r>
            <a:endParaRPr lang="en-IN" b="1" dirty="0"/>
          </a:p>
        </p:txBody>
      </p:sp>
      <p:sp>
        <p:nvSpPr>
          <p:cNvPr id="18" name="TextBox 17">
            <a:extLst>
              <a:ext uri="{FF2B5EF4-FFF2-40B4-BE49-F238E27FC236}">
                <a16:creationId xmlns:a16="http://schemas.microsoft.com/office/drawing/2014/main" id="{36B94AAD-17D5-A6FE-4946-686DA75554C5}"/>
              </a:ext>
            </a:extLst>
          </p:cNvPr>
          <p:cNvSpPr txBox="1"/>
          <p:nvPr/>
        </p:nvSpPr>
        <p:spPr>
          <a:xfrm>
            <a:off x="327921" y="4648200"/>
            <a:ext cx="2074606" cy="2585323"/>
          </a:xfrm>
          <a:prstGeom prst="rect">
            <a:avLst/>
          </a:prstGeom>
          <a:noFill/>
        </p:spPr>
        <p:txBody>
          <a:bodyPr wrap="square" rtlCol="0">
            <a:spAutoFit/>
          </a:bodyPr>
          <a:lstStyle/>
          <a:p>
            <a:r>
              <a:rPr lang="en-US" b="1" dirty="0"/>
              <a:t>Enrollment</a:t>
            </a:r>
          </a:p>
          <a:p>
            <a:endParaRPr lang="en-US" b="1" dirty="0"/>
          </a:p>
          <a:p>
            <a:r>
              <a:rPr lang="en-US" b="1" dirty="0"/>
              <a:t>Enrollment_ID</a:t>
            </a:r>
          </a:p>
          <a:p>
            <a:r>
              <a:rPr lang="en-US" b="1" dirty="0"/>
              <a:t>Course_ID</a:t>
            </a:r>
          </a:p>
          <a:p>
            <a:r>
              <a:rPr lang="en-US" b="1" dirty="0"/>
              <a:t>Student_ID</a:t>
            </a:r>
          </a:p>
          <a:p>
            <a:r>
              <a:rPr lang="en-US" b="1" dirty="0"/>
              <a:t>Enrollment_Name</a:t>
            </a:r>
          </a:p>
          <a:p>
            <a:r>
              <a:rPr lang="en-US" b="1" dirty="0"/>
              <a:t>Deadline</a:t>
            </a:r>
          </a:p>
          <a:p>
            <a:r>
              <a:rPr lang="en-US" b="1" dirty="0"/>
              <a:t>Status</a:t>
            </a:r>
          </a:p>
          <a:p>
            <a:endParaRPr lang="en-US" b="1" dirty="0"/>
          </a:p>
        </p:txBody>
      </p:sp>
      <p:sp>
        <p:nvSpPr>
          <p:cNvPr id="20" name="TextBox 19">
            <a:extLst>
              <a:ext uri="{FF2B5EF4-FFF2-40B4-BE49-F238E27FC236}">
                <a16:creationId xmlns:a16="http://schemas.microsoft.com/office/drawing/2014/main" id="{6C08D5E7-F92F-9AF2-BCFB-1BCC19C47906}"/>
              </a:ext>
            </a:extLst>
          </p:cNvPr>
          <p:cNvSpPr txBox="1"/>
          <p:nvPr/>
        </p:nvSpPr>
        <p:spPr>
          <a:xfrm>
            <a:off x="3923628" y="4648200"/>
            <a:ext cx="2433485" cy="2031325"/>
          </a:xfrm>
          <a:prstGeom prst="rect">
            <a:avLst/>
          </a:prstGeom>
          <a:noFill/>
        </p:spPr>
        <p:txBody>
          <a:bodyPr wrap="square" rtlCol="0">
            <a:spAutoFit/>
          </a:bodyPr>
          <a:lstStyle/>
          <a:p>
            <a:r>
              <a:rPr lang="en-US" b="1" dirty="0"/>
              <a:t>Faculty</a:t>
            </a:r>
          </a:p>
          <a:p>
            <a:endParaRPr lang="en-US" b="1" dirty="0"/>
          </a:p>
          <a:p>
            <a:r>
              <a:rPr lang="en-US" b="1" dirty="0"/>
              <a:t>Faculty_ID</a:t>
            </a:r>
          </a:p>
          <a:p>
            <a:r>
              <a:rPr lang="en-US" b="1" dirty="0"/>
              <a:t>Course_ID</a:t>
            </a:r>
          </a:p>
          <a:p>
            <a:r>
              <a:rPr lang="en-US" b="1" dirty="0"/>
              <a:t>Faculty_Name</a:t>
            </a:r>
          </a:p>
          <a:p>
            <a:r>
              <a:rPr lang="en-US" b="1" dirty="0"/>
              <a:t>Description</a:t>
            </a:r>
          </a:p>
          <a:p>
            <a:r>
              <a:rPr lang="en-US" b="1" dirty="0"/>
              <a:t>Status</a:t>
            </a:r>
            <a:endParaRPr lang="en-IN" b="1" dirty="0"/>
          </a:p>
        </p:txBody>
      </p:sp>
      <p:sp>
        <p:nvSpPr>
          <p:cNvPr id="22" name="TextBox 21">
            <a:extLst>
              <a:ext uri="{FF2B5EF4-FFF2-40B4-BE49-F238E27FC236}">
                <a16:creationId xmlns:a16="http://schemas.microsoft.com/office/drawing/2014/main" id="{EED869B9-76BA-5A9F-DEF8-9C7BB2C0209A}"/>
              </a:ext>
            </a:extLst>
          </p:cNvPr>
          <p:cNvSpPr txBox="1"/>
          <p:nvPr/>
        </p:nvSpPr>
        <p:spPr>
          <a:xfrm>
            <a:off x="7373375" y="4648199"/>
            <a:ext cx="2379406" cy="2585323"/>
          </a:xfrm>
          <a:prstGeom prst="rect">
            <a:avLst/>
          </a:prstGeom>
          <a:noFill/>
        </p:spPr>
        <p:txBody>
          <a:bodyPr wrap="square" rtlCol="0">
            <a:spAutoFit/>
          </a:bodyPr>
          <a:lstStyle/>
          <a:p>
            <a:pPr>
              <a:defRPr sz="1600"/>
            </a:pPr>
            <a:r>
              <a:t>Student</a:t>
            </a:r>
          </a:p>
          <a:p>
            <a:pPr>
              <a:defRPr sz="1600"/>
            </a:pPr>
            <a:r>
              <a:t>Student_ID</a:t>
            </a:r>
          </a:p>
          <a:p>
            <a:pPr>
              <a:defRPr sz="1600"/>
            </a:pPr>
            <a:r>
              <a:t>Student_Name</a:t>
            </a:r>
          </a:p>
          <a:p>
            <a:pPr>
              <a:defRPr sz="1600"/>
            </a:pPr>
            <a:r>
              <a:t>Email</a:t>
            </a:r>
          </a:p>
          <a:p>
            <a:pPr>
              <a:defRPr sz="1600"/>
            </a:pPr>
            <a:r>
              <a:t>Phone</a:t>
            </a:r>
          </a:p>
          <a:p>
            <a:pPr>
              <a:defRPr sz="1600"/>
            </a:pPr>
            <a:r>
              <a:t>Department_ID</a:t>
            </a:r>
          </a:p>
          <a:p>
            <a:pPr>
              <a:defRPr sz="1600"/>
            </a:pPr>
            <a:r>
              <a:t>Year</a:t>
            </a:r>
          </a:p>
          <a:p>
            <a:pPr>
              <a:defRPr sz="1600"/>
            </a:pPr>
            <a:r>
              <a:t>Department</a:t>
            </a:r>
          </a:p>
          <a:p>
            <a:pPr>
              <a:defRPr sz="1600"/>
            </a:pPr>
            <a:r>
              <a:t>Department_ID</a:t>
            </a:r>
          </a:p>
          <a:p>
            <a:pPr>
              <a:defRPr sz="1600"/>
            </a:pPr>
            <a:r>
              <a:t>Department_Name</a:t>
            </a:r>
          </a:p>
          <a:p>
            <a:pPr>
              <a:defRPr sz="1600"/>
            </a:pPr>
            <a:r>
              <a:t>Department_HOD</a:t>
            </a:r>
          </a:p>
          <a:p>
            <a:pPr>
              <a:defRPr sz="1600"/>
            </a:pPr>
            <a:r>
              <a:t>Office</a:t>
            </a:r>
          </a:p>
          <a:p>
            <a:pPr>
              <a:defRPr sz="1600"/>
            </a:pPr>
            <a:r>
              <a:t>Course</a:t>
            </a:r>
          </a:p>
          <a:p>
            <a:pPr>
              <a:defRPr sz="1600"/>
            </a:pPr>
            <a:r>
              <a:t>Course_ID</a:t>
            </a:r>
          </a:p>
          <a:p>
            <a:pPr>
              <a:defRPr sz="1600"/>
            </a:pPr>
            <a:r>
              <a:t>Course_Name</a:t>
            </a:r>
          </a:p>
          <a:p>
            <a:pPr>
              <a:defRPr sz="1600"/>
            </a:pPr>
            <a:r>
              <a:t>Department_ID</a:t>
            </a:r>
          </a:p>
          <a:p>
            <a:pPr>
              <a:defRPr sz="1600"/>
            </a:pPr>
            <a:r>
              <a:t>Credits</a:t>
            </a:r>
          </a:p>
          <a:p>
            <a:pPr>
              <a:defRPr sz="1600"/>
            </a:pPr>
            <a:r>
              <a:t>Enrollment</a:t>
            </a:r>
          </a:p>
          <a:p>
            <a:pPr>
              <a:defRPr sz="1600"/>
            </a:pPr>
            <a:r>
              <a:t>Enrollment_ID</a:t>
            </a:r>
          </a:p>
          <a:p>
            <a:pPr>
              <a:defRPr sz="1600"/>
            </a:pPr>
            <a:r>
              <a:t>Student_ID</a:t>
            </a:r>
          </a:p>
          <a:p>
            <a:pPr>
              <a:defRPr sz="1600"/>
            </a:pPr>
            <a:r>
              <a:t>Course_ID</a:t>
            </a:r>
          </a:p>
          <a:p>
            <a:pPr>
              <a:defRPr sz="1600"/>
            </a:pPr>
            <a:r>
              <a:t>Enrollment_Date</a:t>
            </a:r>
          </a:p>
          <a:p>
            <a:pPr>
              <a:defRPr sz="1600"/>
            </a:pPr>
            <a:r>
              <a:t>Status</a:t>
            </a:r>
          </a:p>
          <a:p>
            <a:pPr>
              <a:defRPr sz="1600"/>
            </a:pPr>
            <a:r>
              <a:t>Faculty</a:t>
            </a:r>
          </a:p>
          <a:p>
            <a:pPr>
              <a:defRPr sz="1600"/>
            </a:pPr>
            <a:r>
              <a:t>Faculty_ID</a:t>
            </a:r>
          </a:p>
          <a:p>
            <a:pPr>
              <a:defRPr sz="1600"/>
            </a:pPr>
            <a:r>
              <a:t>Faculty_Name</a:t>
            </a:r>
          </a:p>
          <a:p>
            <a:pPr>
              <a:defRPr sz="1600"/>
            </a:pPr>
            <a:r>
              <a:t>Email</a:t>
            </a:r>
          </a:p>
          <a:p>
            <a:pPr>
              <a:defRPr sz="1600"/>
            </a:pPr>
            <a:r>
              <a:t>Department_ID</a:t>
            </a:r>
          </a:p>
          <a:p>
            <a:pPr>
              <a:defRPr sz="1600"/>
            </a:pPr>
            <a:r>
              <a:t>Designation</a:t>
            </a:r>
          </a:p>
          <a:p>
            <a:pPr>
              <a:defRPr sz="1600"/>
            </a:pPr>
            <a:r>
              <a:t>Examination</a:t>
            </a:r>
          </a:p>
          <a:p>
            <a:pPr>
              <a:defRPr sz="1600"/>
            </a:pPr>
            <a:r>
              <a:t>Exam_ID</a:t>
            </a:r>
          </a:p>
          <a:p>
            <a:pPr>
              <a:defRPr sz="1600"/>
            </a:pPr>
            <a:r>
              <a:t>Course_ID</a:t>
            </a:r>
          </a:p>
          <a:p>
            <a:pPr>
              <a:defRPr sz="1600"/>
            </a:pPr>
            <a:r>
              <a:t>Exam_Date</a:t>
            </a:r>
          </a:p>
          <a:p>
            <a:pPr>
              <a:defRPr sz="1600"/>
            </a:pPr>
            <a:r>
              <a:t>Exam_Type</a:t>
            </a:r>
          </a:p>
          <a:p>
            <a:pPr>
              <a:defRPr sz="1600"/>
            </a:pPr>
            <a:r>
              <a:t>Max_Marks</a:t>
            </a:r>
          </a:p>
          <a:p>
            <a:pPr>
              <a:defRPr sz="1600"/>
            </a:pPr>
            <a:endParaRPr/>
          </a:p>
        </p:txBody>
      </p:sp>
    </p:spTree>
    <p:extLst>
      <p:ext uri="{BB962C8B-B14F-4D97-AF65-F5344CB8AC3E}">
        <p14:creationId xmlns:p14="http://schemas.microsoft.com/office/powerpoint/2010/main" val="26077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41910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a:t>
            </a:r>
          </a:p>
        </p:txBody>
      </p:sp>
      <p:pic>
        <p:nvPicPr>
          <p:cNvPr id="10" name="Picture 9">
            <a:extLst>
              <a:ext uri="{FF2B5EF4-FFF2-40B4-BE49-F238E27FC236}">
                <a16:creationId xmlns:a16="http://schemas.microsoft.com/office/drawing/2014/main" id="{DD88E9EE-2AB3-6E51-CB5D-AA012F061E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8596" y="1335620"/>
            <a:ext cx="9121208" cy="4076451"/>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28956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DATABASE</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SCHEMA</a:t>
            </a:r>
          </a:p>
        </p:txBody>
      </p:sp>
      <p:pic>
        <p:nvPicPr>
          <p:cNvPr id="10" name="Picture 9">
            <a:extLst>
              <a:ext uri="{FF2B5EF4-FFF2-40B4-BE49-F238E27FC236}">
                <a16:creationId xmlns:a16="http://schemas.microsoft.com/office/drawing/2014/main" id="{2450E918-8FA9-B982-F112-B9C5251FED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162" y="1090884"/>
            <a:ext cx="10082561" cy="6681515"/>
          </a:xfrm>
          <a:prstGeom prst="rect">
            <a:avLst/>
          </a:prstGeom>
        </p:spPr>
      </p:pic>
    </p:spTree>
    <p:extLst>
      <p:ext uri="{BB962C8B-B14F-4D97-AF65-F5344CB8AC3E}">
        <p14:creationId xmlns:p14="http://schemas.microsoft.com/office/powerpoint/2010/main" val="3283178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3429000" y="321324"/>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&amp;</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FOREIGN</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KEYS</a:t>
            </a:r>
          </a:p>
        </p:txBody>
      </p:sp>
      <p:sp>
        <p:nvSpPr>
          <p:cNvPr id="10" name="TextBox 9">
            <a:extLst>
              <a:ext uri="{FF2B5EF4-FFF2-40B4-BE49-F238E27FC236}">
                <a16:creationId xmlns:a16="http://schemas.microsoft.com/office/drawing/2014/main" id="{DF99094A-A504-3D0B-DB66-504C160A0ADB}"/>
              </a:ext>
            </a:extLst>
          </p:cNvPr>
          <p:cNvSpPr txBox="1"/>
          <p:nvPr/>
        </p:nvSpPr>
        <p:spPr>
          <a:xfrm>
            <a:off x="436113" y="2081678"/>
            <a:ext cx="2035278" cy="3693319"/>
          </a:xfrm>
          <a:prstGeom prst="rect">
            <a:avLst/>
          </a:prstGeom>
          <a:noFill/>
        </p:spPr>
        <p:txBody>
          <a:bodyPr wrap="square" rtlCol="0">
            <a:spAutoFit/>
          </a:bodyPr>
          <a:lstStyle/>
          <a:p>
            <a:r>
              <a:rPr lang="en-US" b="1" dirty="0"/>
              <a:t>Primary keys</a:t>
            </a:r>
          </a:p>
          <a:p>
            <a:endParaRPr lang="en-US" dirty="0"/>
          </a:p>
          <a:p>
            <a:pPr marL="285750" indent="-285750">
              <a:buFont typeface="Wingdings" panose="05000000000000000000" pitchFamily="2" charset="2"/>
              <a:buChar char="ü"/>
            </a:pPr>
            <a:r>
              <a:rPr lang="en-US" dirty="0"/>
              <a:t>Student_ID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Department_ID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Course_ID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Enrollment_ID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Faculty_ID</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Examination_ID</a:t>
            </a:r>
            <a:endParaRPr lang="en-IN" dirty="0"/>
          </a:p>
        </p:txBody>
      </p:sp>
      <p:sp>
        <p:nvSpPr>
          <p:cNvPr id="12" name="TextBox 11">
            <a:extLst>
              <a:ext uri="{FF2B5EF4-FFF2-40B4-BE49-F238E27FC236}">
                <a16:creationId xmlns:a16="http://schemas.microsoft.com/office/drawing/2014/main" id="{A9225C05-C6E9-CF60-2F05-CD7E5CB4A5DB}"/>
              </a:ext>
            </a:extLst>
          </p:cNvPr>
          <p:cNvSpPr txBox="1"/>
          <p:nvPr/>
        </p:nvSpPr>
        <p:spPr>
          <a:xfrm>
            <a:off x="4586295" y="2075004"/>
            <a:ext cx="4857137" cy="3693319"/>
          </a:xfrm>
          <a:prstGeom prst="rect">
            <a:avLst/>
          </a:prstGeom>
          <a:noFill/>
        </p:spPr>
        <p:txBody>
          <a:bodyPr wrap="square" rtlCol="0">
            <a:spAutoFit/>
          </a:bodyPr>
          <a:lstStyle/>
          <a:p>
            <a:pPr>
              <a:defRPr sz="1600"/>
            </a:pPr>
            <a:r>
              <a:t>Primary Keys</a:t>
            </a:r>
          </a:p>
          <a:p>
            <a:pPr>
              <a:defRPr sz="1600"/>
            </a:pPr>
            <a:r>
              <a:t>Student_ID</a:t>
            </a:r>
          </a:p>
          <a:p>
            <a:pPr>
              <a:defRPr sz="1600"/>
            </a:pPr>
            <a:r>
              <a:t>Department_ID</a:t>
            </a:r>
          </a:p>
          <a:p>
            <a:pPr>
              <a:defRPr sz="1600"/>
            </a:pPr>
            <a:r>
              <a:t>Course_ID</a:t>
            </a:r>
          </a:p>
          <a:p>
            <a:pPr>
              <a:defRPr sz="1600"/>
            </a:pPr>
            <a:r>
              <a:t>Enrollment_ID</a:t>
            </a:r>
          </a:p>
          <a:p>
            <a:pPr>
              <a:defRPr sz="1600"/>
            </a:pPr>
            <a:r>
              <a:t>Faculty_ID</a:t>
            </a:r>
          </a:p>
          <a:p>
            <a:pPr>
              <a:defRPr sz="1600"/>
            </a:pPr>
            <a:r>
              <a:t>Exam_ID</a:t>
            </a:r>
          </a:p>
          <a:p>
            <a:pPr>
              <a:defRPr sz="1600"/>
            </a:pPr>
            <a:endParaRPr/>
          </a:p>
          <a:p>
            <a:pPr>
              <a:defRPr sz="1600"/>
            </a:pPr>
            <a:r>
              <a:t>Foreign Keys</a:t>
            </a:r>
          </a:p>
          <a:p>
            <a:pPr>
              <a:defRPr sz="1600"/>
            </a:pPr>
            <a:r>
              <a:t>Department_ID → Student</a:t>
            </a:r>
          </a:p>
          <a:p>
            <a:pPr>
              <a:defRPr sz="1600"/>
            </a:pPr>
            <a:r>
              <a:t>Department_ID → Course</a:t>
            </a:r>
          </a:p>
          <a:p>
            <a:pPr>
              <a:defRPr sz="1600"/>
            </a:pPr>
            <a:r>
              <a:t>Student_ID → Enrollment</a:t>
            </a:r>
          </a:p>
          <a:p>
            <a:pPr>
              <a:defRPr sz="1600"/>
            </a:pPr>
            <a:r>
              <a:t>Course_ID → Enrollment</a:t>
            </a:r>
          </a:p>
          <a:p>
            <a:pPr>
              <a:defRPr sz="1600"/>
            </a:pPr>
            <a:r>
              <a:t>Department_ID → Faculty</a:t>
            </a:r>
          </a:p>
          <a:p>
            <a:pPr>
              <a:defRPr sz="1600"/>
            </a:pPr>
            <a:r>
              <a:t>Course_ID → Examination</a:t>
            </a:r>
          </a:p>
        </p:txBody>
      </p:sp>
      <p:sp>
        <p:nvSpPr>
          <p:cNvPr id="14" name="Arrow: Right 13">
            <a:extLst>
              <a:ext uri="{FF2B5EF4-FFF2-40B4-BE49-F238E27FC236}">
                <a16:creationId xmlns:a16="http://schemas.microsoft.com/office/drawing/2014/main" id="{CFE3BF4B-A24D-0B17-2C60-D0F0F14F91AC}"/>
              </a:ext>
            </a:extLst>
          </p:cNvPr>
          <p:cNvSpPr/>
          <p:nvPr/>
        </p:nvSpPr>
        <p:spPr>
          <a:xfrm>
            <a:off x="6749695" y="4452982"/>
            <a:ext cx="1032387" cy="160510"/>
          </a:xfrm>
          <a:prstGeom prst="rightArrow">
            <a:avLst/>
          </a:prstGeom>
          <a:solidFill>
            <a:schemeClr val="accent3">
              <a:lumMod val="60000"/>
              <a:lumOff val="4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00D01434-22DC-0E3A-0CA8-161155D8D5FB}"/>
              </a:ext>
            </a:extLst>
          </p:cNvPr>
          <p:cNvSpPr/>
          <p:nvPr/>
        </p:nvSpPr>
        <p:spPr>
          <a:xfrm>
            <a:off x="6738518" y="5433309"/>
            <a:ext cx="1032386" cy="160511"/>
          </a:xfrm>
          <a:prstGeom prst="rightArrow">
            <a:avLst/>
          </a:prstGeom>
          <a:solidFill>
            <a:schemeClr val="bg2">
              <a:lumMod val="1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40786430-880D-B033-0101-F87A33B635BF}"/>
              </a:ext>
            </a:extLst>
          </p:cNvPr>
          <p:cNvSpPr/>
          <p:nvPr/>
        </p:nvSpPr>
        <p:spPr>
          <a:xfrm>
            <a:off x="6738517" y="4891341"/>
            <a:ext cx="1032387" cy="160510"/>
          </a:xfrm>
          <a:prstGeom prst="rightArrow">
            <a:avLst/>
          </a:prstGeom>
          <a:solidFill>
            <a:srgbClr val="FFFF0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a:extLst>
              <a:ext uri="{FF2B5EF4-FFF2-40B4-BE49-F238E27FC236}">
                <a16:creationId xmlns:a16="http://schemas.microsoft.com/office/drawing/2014/main" id="{F1F291E1-684E-C505-C238-34C10C0959D2}"/>
              </a:ext>
            </a:extLst>
          </p:cNvPr>
          <p:cNvPicPr>
            <a:picLocks noChangeAspect="1"/>
          </p:cNvPicPr>
          <p:nvPr/>
        </p:nvPicPr>
        <p:blipFill>
          <a:blip r:embed="rId6"/>
          <a:stretch>
            <a:fillRect/>
          </a:stretch>
        </p:blipFill>
        <p:spPr>
          <a:xfrm>
            <a:off x="6710108" y="3847663"/>
            <a:ext cx="1060796" cy="219475"/>
          </a:xfrm>
          <a:prstGeom prst="rect">
            <a:avLst/>
          </a:prstGeom>
        </p:spPr>
      </p:pic>
      <p:pic>
        <p:nvPicPr>
          <p:cNvPr id="24" name="Picture 23">
            <a:extLst>
              <a:ext uri="{FF2B5EF4-FFF2-40B4-BE49-F238E27FC236}">
                <a16:creationId xmlns:a16="http://schemas.microsoft.com/office/drawing/2014/main" id="{1EB62A51-1FCD-EF21-E3F7-AA942F5E3087}"/>
              </a:ext>
            </a:extLst>
          </p:cNvPr>
          <p:cNvPicPr>
            <a:picLocks noChangeAspect="1"/>
          </p:cNvPicPr>
          <p:nvPr/>
        </p:nvPicPr>
        <p:blipFill>
          <a:blip r:embed="rId7"/>
          <a:stretch>
            <a:fillRect/>
          </a:stretch>
        </p:blipFill>
        <p:spPr>
          <a:xfrm>
            <a:off x="6749695" y="3260415"/>
            <a:ext cx="1060796" cy="219475"/>
          </a:xfrm>
          <a:prstGeom prst="rect">
            <a:avLst/>
          </a:prstGeom>
        </p:spPr>
      </p:pic>
      <p:pic>
        <p:nvPicPr>
          <p:cNvPr id="26" name="Picture 25">
            <a:extLst>
              <a:ext uri="{FF2B5EF4-FFF2-40B4-BE49-F238E27FC236}">
                <a16:creationId xmlns:a16="http://schemas.microsoft.com/office/drawing/2014/main" id="{7DE094B5-57DF-5B8C-D6DA-47DFC8DF3D61}"/>
              </a:ext>
            </a:extLst>
          </p:cNvPr>
          <p:cNvPicPr>
            <a:picLocks noChangeAspect="1"/>
          </p:cNvPicPr>
          <p:nvPr/>
        </p:nvPicPr>
        <p:blipFill>
          <a:blip r:embed="rId8"/>
          <a:stretch>
            <a:fillRect/>
          </a:stretch>
        </p:blipFill>
        <p:spPr>
          <a:xfrm>
            <a:off x="6749695" y="2661193"/>
            <a:ext cx="1060796" cy="213378"/>
          </a:xfrm>
          <a:prstGeom prst="rect">
            <a:avLst/>
          </a:prstGeom>
        </p:spPr>
      </p:pic>
    </p:spTree>
    <p:extLst>
      <p:ext uri="{BB962C8B-B14F-4D97-AF65-F5344CB8AC3E}">
        <p14:creationId xmlns:p14="http://schemas.microsoft.com/office/powerpoint/2010/main" val="1510185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sp>
        <p:nvSpPr>
          <p:cNvPr id="10" name="TextBox 9">
            <a:extLst>
              <a:ext uri="{FF2B5EF4-FFF2-40B4-BE49-F238E27FC236}">
                <a16:creationId xmlns:a16="http://schemas.microsoft.com/office/drawing/2014/main" id="{96E0BA52-F81D-0A6A-DB72-71D94845A5FE}"/>
              </a:ext>
            </a:extLst>
          </p:cNvPr>
          <p:cNvSpPr txBox="1"/>
          <p:nvPr/>
        </p:nvSpPr>
        <p:spPr>
          <a:xfrm>
            <a:off x="685800" y="869729"/>
            <a:ext cx="8077200" cy="6924973"/>
          </a:xfrm>
          <a:prstGeom prst="rect">
            <a:avLst/>
          </a:prstGeom>
          <a:noFill/>
        </p:spPr>
        <p:txBody>
          <a:bodyPr wrap="square" rtlCol="0">
            <a:spAutoFit/>
          </a:bodyPr>
          <a:lstStyle/>
          <a:p>
            <a:r>
              <a:rPr lang="en-US" sz="1200" dirty="0"/>
              <a:t>CREATE TABLE DEPARTMENT (</a:t>
            </a:r>
          </a:p>
          <a:p>
            <a:r>
              <a:rPr lang="en-US" sz="1200" dirty="0"/>
              <a:t>    Department_ID NUMBER(5) CONSTRAINT PK_DEPARTMENT PRIMARY KEY,</a:t>
            </a:r>
          </a:p>
          <a:p>
            <a:r>
              <a:rPr lang="en-US" sz="1200" dirty="0"/>
              <a:t>    </a:t>
            </a:r>
            <a:r>
              <a:rPr lang="en-US" sz="1200" dirty="0" err="1"/>
              <a:t>Department_Name</a:t>
            </a:r>
            <a:r>
              <a:rPr lang="en-US" sz="1200" dirty="0"/>
              <a:t> VARCHAR2(100) NOT NULL,</a:t>
            </a:r>
          </a:p>
          <a:p>
            <a:r>
              <a:rPr lang="en-US" sz="1200" dirty="0"/>
              <a:t>    </a:t>
            </a:r>
            <a:r>
              <a:rPr lang="en-US" sz="1200" dirty="0" err="1"/>
              <a:t>Department_HOD</a:t>
            </a:r>
            <a:r>
              <a:rPr lang="en-US" sz="1200" dirty="0"/>
              <a:t> VARCHAR2(100) NOT NULL,</a:t>
            </a:r>
          </a:p>
          <a:p>
            <a:r>
              <a:rPr lang="en-US" sz="1200" dirty="0"/>
              <a:t>    Email VARCHAR2(100) UNIQUE,</a:t>
            </a:r>
          </a:p>
          <a:p>
            <a:r>
              <a:rPr lang="en-US" sz="1200" dirty="0"/>
              <a:t>    Phone VARCHAR2(15),</a:t>
            </a:r>
          </a:p>
          <a:p>
            <a:r>
              <a:rPr lang="en-US" sz="1200" dirty="0"/>
              <a:t>    Address VARCHAR2(200)</a:t>
            </a:r>
          </a:p>
          <a:p>
            <a:r>
              <a:rPr lang="en-US" sz="1200" dirty="0"/>
              <a:t>);</a:t>
            </a:r>
          </a:p>
          <a:p>
            <a:endParaRPr lang="en-US" sz="1200" dirty="0"/>
          </a:p>
          <a:p>
            <a:r>
              <a:rPr lang="en-US" sz="1200" dirty="0"/>
              <a:t>CREATE TABLE COURSE (</a:t>
            </a:r>
          </a:p>
          <a:p>
            <a:r>
              <a:rPr lang="en-US" sz="1200" dirty="0"/>
              <a:t>    Course_ID NUMBER(5) CONSTRAINT PK_COURSE PRIMARY KEY,</a:t>
            </a:r>
          </a:p>
          <a:p>
            <a:r>
              <a:rPr lang="en-US" sz="1200" dirty="0"/>
              <a:t>    Department_ID NUMBER(5) NOT NULL,</a:t>
            </a:r>
          </a:p>
          <a:p>
            <a:r>
              <a:rPr lang="en-US" sz="1200" dirty="0"/>
              <a:t>    </a:t>
            </a:r>
            <a:r>
              <a:rPr lang="en-US" sz="1200" dirty="0" err="1"/>
              <a:t>Course_Name</a:t>
            </a:r>
            <a:r>
              <a:rPr lang="en-US" sz="1200" dirty="0"/>
              <a:t> VARCHAR2(100) NOT NULL,</a:t>
            </a:r>
          </a:p>
          <a:p>
            <a:r>
              <a:rPr lang="en-US" sz="1200" dirty="0"/>
              <a:t>    </a:t>
            </a:r>
            <a:r>
              <a:rPr lang="en-US" sz="1200" dirty="0" err="1"/>
              <a:t>Start_Date</a:t>
            </a:r>
            <a:r>
              <a:rPr lang="en-US" sz="1200" dirty="0"/>
              <a:t> DATE,</a:t>
            </a:r>
          </a:p>
          <a:p>
            <a:r>
              <a:rPr lang="en-US" sz="1200" dirty="0"/>
              <a:t>    </a:t>
            </a:r>
            <a:r>
              <a:rPr lang="en-US" sz="1200" dirty="0" err="1"/>
              <a:t>End_Date</a:t>
            </a:r>
            <a:r>
              <a:rPr lang="en-US" sz="1200" dirty="0"/>
              <a:t> DATE,</a:t>
            </a:r>
          </a:p>
          <a:p>
            <a:r>
              <a:rPr lang="en-US" sz="1200" dirty="0"/>
              <a:t>    Budget NUMBER(12,2),</a:t>
            </a:r>
          </a:p>
          <a:p>
            <a:r>
              <a:rPr lang="en-US" sz="1200" dirty="0"/>
              <a:t>    Status VARCHAR2(30),</a:t>
            </a:r>
          </a:p>
          <a:p>
            <a:r>
              <a:rPr lang="en-US" sz="1200" dirty="0"/>
              <a:t>    </a:t>
            </a:r>
          </a:p>
          <a:p>
            <a:r>
              <a:rPr lang="en-US" sz="1200" dirty="0"/>
              <a:t>    CONSTRAINT FK_COURSE_DEPARTMENT</a:t>
            </a:r>
          </a:p>
          <a:p>
            <a:r>
              <a:rPr lang="en-US" sz="1200" dirty="0"/>
              <a:t>        FOREIGN KEY (Department_ID)</a:t>
            </a:r>
          </a:p>
          <a:p>
            <a:r>
              <a:rPr lang="en-US" sz="1200" dirty="0"/>
              <a:t>        REFERENCES DEPARTMENT(Department_ID),</a:t>
            </a:r>
          </a:p>
          <a:p>
            <a:r>
              <a:rPr lang="en-US" sz="1200" dirty="0"/>
              <a:t>        </a:t>
            </a:r>
          </a:p>
          <a:p>
            <a:r>
              <a:rPr lang="en-US" sz="1200" dirty="0"/>
              <a:t>    CONSTRAINT CHK_COURSE_BUDGET</a:t>
            </a:r>
          </a:p>
          <a:p>
            <a:r>
              <a:rPr lang="en-US" sz="1200" dirty="0"/>
              <a:t>        CHECK (Budget &gt;= 0)</a:t>
            </a:r>
          </a:p>
          <a:p>
            <a:r>
              <a:rPr lang="en-US" sz="1200" dirty="0"/>
              <a:t>);</a:t>
            </a:r>
          </a:p>
          <a:p>
            <a:endParaRPr lang="en-US" sz="1200" dirty="0"/>
          </a:p>
          <a:p>
            <a:r>
              <a:rPr lang="en-IN" sz="1200" dirty="0"/>
              <a:t>CREATE TABLE FACULTY (</a:t>
            </a:r>
          </a:p>
          <a:p>
            <a:r>
              <a:rPr lang="en-IN" sz="1200" dirty="0"/>
              <a:t>    </a:t>
            </a:r>
            <a:r>
              <a:rPr lang="en-IN" sz="1200" dirty="0" err="1"/>
              <a:t>Faculty_ID</a:t>
            </a:r>
            <a:r>
              <a:rPr lang="en-IN" sz="1200" dirty="0"/>
              <a:t> NUMBER(5) CONSTRAINT PK_FACULTY PRIMARY KEY,</a:t>
            </a:r>
          </a:p>
          <a:p>
            <a:r>
              <a:rPr lang="en-IN" sz="1200" dirty="0"/>
              <a:t>    </a:t>
            </a:r>
            <a:r>
              <a:rPr lang="en-IN" sz="1200" dirty="0" err="1"/>
              <a:t>Course_ID</a:t>
            </a:r>
            <a:r>
              <a:rPr lang="en-IN" sz="1200" dirty="0"/>
              <a:t> NUMBER(5) NOT NULL,</a:t>
            </a:r>
          </a:p>
          <a:p>
            <a:r>
              <a:rPr lang="en-IN" sz="1200" dirty="0"/>
              <a:t>    </a:t>
            </a:r>
            <a:r>
              <a:rPr lang="en-IN" sz="1200" dirty="0" err="1"/>
              <a:t>Faculty_Name</a:t>
            </a:r>
            <a:r>
              <a:rPr lang="en-IN" sz="1200" dirty="0"/>
              <a:t> VARCHAR2(100) NOT NULL,</a:t>
            </a:r>
          </a:p>
          <a:p>
            <a:r>
              <a:rPr lang="en-IN" sz="1200" dirty="0"/>
              <a:t>    Description VARCHAR2(255),</a:t>
            </a:r>
          </a:p>
          <a:p>
            <a:r>
              <a:rPr lang="en-IN" sz="1200" dirty="0"/>
              <a:t>    Status VARCHAR2(30),</a:t>
            </a:r>
          </a:p>
          <a:p>
            <a:r>
              <a:rPr lang="en-IN" sz="1200" dirty="0"/>
              <a:t>    </a:t>
            </a:r>
          </a:p>
          <a:p>
            <a:r>
              <a:rPr lang="en-IN" sz="1200" dirty="0"/>
              <a:t>    CONSTRAINT FK_FACULTY_COURSE</a:t>
            </a:r>
          </a:p>
          <a:p>
            <a:r>
              <a:rPr lang="en-IN" sz="1200" dirty="0"/>
              <a:t>        FOREIGN KEY (</a:t>
            </a:r>
            <a:r>
              <a:rPr lang="en-IN" sz="1200" dirty="0" err="1"/>
              <a:t>Course_ID</a:t>
            </a:r>
            <a:r>
              <a:rPr lang="en-IN" sz="1200" dirty="0"/>
              <a:t>)</a:t>
            </a:r>
          </a:p>
          <a:p>
            <a:r>
              <a:rPr lang="en-IN" sz="1200" dirty="0"/>
              <a:t>        REFERENCES COURSE(</a:t>
            </a:r>
            <a:r>
              <a:rPr lang="en-IN" sz="1200" dirty="0" err="1"/>
              <a:t>Course_ID</a:t>
            </a:r>
            <a:r>
              <a:rPr lang="en-IN" sz="1200" dirty="0"/>
              <a:t>)</a:t>
            </a:r>
          </a:p>
          <a:p>
            <a:r>
              <a:rPr lang="en-IN" sz="1200" dirty="0"/>
              <a:t>);</a:t>
            </a:r>
          </a:p>
        </p:txBody>
      </p:sp>
      <p:pic>
        <p:nvPicPr>
          <p:cNvPr id="12" name="Picture 11">
            <a:extLst>
              <a:ext uri="{FF2B5EF4-FFF2-40B4-BE49-F238E27FC236}">
                <a16:creationId xmlns:a16="http://schemas.microsoft.com/office/drawing/2014/main" id="{EF67488C-F6A5-7F4B-7D0F-1C70476D86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46722" y="1077461"/>
            <a:ext cx="3700647" cy="1581241"/>
          </a:xfrm>
          <a:prstGeom prst="rect">
            <a:avLst/>
          </a:prstGeom>
        </p:spPr>
      </p:pic>
      <p:pic>
        <p:nvPicPr>
          <p:cNvPr id="20" name="Picture 19">
            <a:extLst>
              <a:ext uri="{FF2B5EF4-FFF2-40B4-BE49-F238E27FC236}">
                <a16:creationId xmlns:a16="http://schemas.microsoft.com/office/drawing/2014/main" id="{763B3ED4-2F5C-A2F7-0CCE-8A8017CAF6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6723" y="5837431"/>
            <a:ext cx="3648713" cy="1851820"/>
          </a:xfrm>
          <a:prstGeom prst="rect">
            <a:avLst/>
          </a:prstGeom>
        </p:spPr>
      </p:pic>
      <p:pic>
        <p:nvPicPr>
          <p:cNvPr id="22" name="Picture 21">
            <a:extLst>
              <a:ext uri="{FF2B5EF4-FFF2-40B4-BE49-F238E27FC236}">
                <a16:creationId xmlns:a16="http://schemas.microsoft.com/office/drawing/2014/main" id="{C1C3C23F-E433-51B2-11D4-F97A1888A8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46722" y="3133255"/>
            <a:ext cx="3648713" cy="1851820"/>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213F6-C7F7-567F-D221-4AB0139864F9}"/>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53D82750-9AA9-B228-E363-389964773C86}"/>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8E032EF5-1F27-C113-0B99-33EE1FF12F1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20005EE0-DA03-1E1A-C159-2B4F9585346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7EDF5E54-9B20-E7E4-495E-6853EC6B82DC}"/>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1A37777-8CBB-57C4-D0D1-CB125DD64801}"/>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C112BFD-60A6-207B-7940-78A41E7A54A9}"/>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2B6FC6F4-747A-C766-8B2A-2AF36521E8F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301F244-02F4-1201-43D2-96269556D5C6}"/>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sp>
        <p:nvSpPr>
          <p:cNvPr id="8" name="TextBox 7">
            <a:extLst>
              <a:ext uri="{FF2B5EF4-FFF2-40B4-BE49-F238E27FC236}">
                <a16:creationId xmlns:a16="http://schemas.microsoft.com/office/drawing/2014/main" id="{0BA623BC-9B70-F458-2637-BED09257486B}"/>
              </a:ext>
            </a:extLst>
          </p:cNvPr>
          <p:cNvSpPr txBox="1"/>
          <p:nvPr/>
        </p:nvSpPr>
        <p:spPr>
          <a:xfrm>
            <a:off x="381000" y="785759"/>
            <a:ext cx="8305800" cy="7017306"/>
          </a:xfrm>
          <a:prstGeom prst="rect">
            <a:avLst/>
          </a:prstGeom>
          <a:noFill/>
        </p:spPr>
        <p:txBody>
          <a:bodyPr wrap="square" rtlCol="0">
            <a:spAutoFit/>
          </a:bodyPr>
          <a:lstStyle/>
          <a:p>
            <a:r>
              <a:rPr lang="en-US" sz="1000" dirty="0"/>
              <a:t>CREATE TABLE STUDENT (</a:t>
            </a:r>
          </a:p>
          <a:p>
            <a:r>
              <a:rPr lang="en-US" sz="1000" dirty="0"/>
              <a:t>    Student_ID NUMBER(5) CONSTRAINT PK_STUDENT PRIMARY KEY,</a:t>
            </a:r>
          </a:p>
          <a:p>
            <a:r>
              <a:rPr lang="en-US" sz="1000" dirty="0"/>
              <a:t>    </a:t>
            </a:r>
            <a:r>
              <a:rPr lang="en-US" sz="1000" dirty="0" err="1"/>
              <a:t>Student_Name</a:t>
            </a:r>
            <a:r>
              <a:rPr lang="en-US" sz="1000" dirty="0"/>
              <a:t> VARCHAR2(100) NOT NULL,</a:t>
            </a:r>
          </a:p>
          <a:p>
            <a:r>
              <a:rPr lang="en-US" sz="1000" dirty="0"/>
              <a:t>    Email VARCHAR2(100) UNIQUE,</a:t>
            </a:r>
          </a:p>
          <a:p>
            <a:r>
              <a:rPr lang="en-US" sz="1000" dirty="0"/>
              <a:t>    Phone VARCHAR2(15),</a:t>
            </a:r>
          </a:p>
          <a:p>
            <a:r>
              <a:rPr lang="en-US" sz="1000" dirty="0"/>
              <a:t>    Designation VARCHAR2(50),</a:t>
            </a:r>
          </a:p>
          <a:p>
            <a:r>
              <a:rPr lang="en-US" sz="1000" dirty="0"/>
              <a:t>    Salary NUMBER(10,2),</a:t>
            </a:r>
          </a:p>
          <a:p>
            <a:r>
              <a:rPr lang="en-US" sz="1000" dirty="0"/>
              <a:t>    </a:t>
            </a:r>
          </a:p>
          <a:p>
            <a:r>
              <a:rPr lang="en-US" sz="1000" dirty="0"/>
              <a:t>    CONSTRAINT CHK_STUDENT_SALARY</a:t>
            </a:r>
          </a:p>
          <a:p>
            <a:r>
              <a:rPr lang="en-US" sz="1000" dirty="0"/>
              <a:t>        CHECK (Salary &gt;= 0)</a:t>
            </a:r>
          </a:p>
          <a:p>
            <a:r>
              <a:rPr lang="en-US" sz="1000" dirty="0"/>
              <a:t>);</a:t>
            </a:r>
          </a:p>
          <a:p>
            <a:endParaRPr lang="en-US" sz="1000" dirty="0"/>
          </a:p>
          <a:p>
            <a:r>
              <a:rPr lang="en-US" sz="1000" dirty="0"/>
              <a:t>CREATE TABLE ENROLLMENT (</a:t>
            </a:r>
          </a:p>
          <a:p>
            <a:r>
              <a:rPr lang="en-US" sz="1000" dirty="0"/>
              <a:t>    </a:t>
            </a:r>
            <a:r>
              <a:rPr lang="en-US" sz="1000" dirty="0" err="1"/>
              <a:t>Enrollment_ID</a:t>
            </a:r>
            <a:r>
              <a:rPr lang="en-US" sz="1000" dirty="0"/>
              <a:t> NUMBER(5) CONSTRAINT PK_ENROLLMENT PRIMARY KEY,</a:t>
            </a:r>
          </a:p>
          <a:p>
            <a:r>
              <a:rPr lang="en-US" sz="1000" dirty="0"/>
              <a:t>    Course_ID NUMBER(5) NOT NULL,</a:t>
            </a:r>
          </a:p>
          <a:p>
            <a:r>
              <a:rPr lang="en-US" sz="1000" dirty="0"/>
              <a:t>    Student_ID NUMBER(5) NOT NULL,</a:t>
            </a:r>
          </a:p>
          <a:p>
            <a:r>
              <a:rPr lang="en-US" sz="1000" dirty="0"/>
              <a:t>    </a:t>
            </a:r>
            <a:r>
              <a:rPr lang="en-US" sz="1000" dirty="0" err="1"/>
              <a:t>Enrollment_Name</a:t>
            </a:r>
            <a:r>
              <a:rPr lang="en-US" sz="1000" dirty="0"/>
              <a:t> VARCHAR2(100) NOT NULL,</a:t>
            </a:r>
          </a:p>
          <a:p>
            <a:r>
              <a:rPr lang="en-US" sz="1000" dirty="0"/>
              <a:t>    Deadline DATE,</a:t>
            </a:r>
          </a:p>
          <a:p>
            <a:r>
              <a:rPr lang="en-US" sz="1000" dirty="0"/>
              <a:t>    Status VARCHAR2(30),</a:t>
            </a:r>
          </a:p>
          <a:p>
            <a:r>
              <a:rPr lang="en-US" sz="1000" dirty="0"/>
              <a:t>    </a:t>
            </a:r>
          </a:p>
          <a:p>
            <a:r>
              <a:rPr lang="en-US" sz="1000" dirty="0"/>
              <a:t>    CONSTRAINT FK_ENROLLMENT_COURSE</a:t>
            </a:r>
          </a:p>
          <a:p>
            <a:r>
              <a:rPr lang="en-US" sz="1000" dirty="0"/>
              <a:t>        FOREIGN KEY (Course_ID)</a:t>
            </a:r>
          </a:p>
          <a:p>
            <a:r>
              <a:rPr lang="en-US" sz="1000" dirty="0"/>
              <a:t>        REFERENCES COURSE(Course_ID),</a:t>
            </a:r>
          </a:p>
          <a:p>
            <a:r>
              <a:rPr lang="en-US" sz="1000" dirty="0"/>
              <a:t>        </a:t>
            </a:r>
          </a:p>
          <a:p>
            <a:r>
              <a:rPr lang="en-US" sz="1000" dirty="0"/>
              <a:t>    CONSTRAINT FK_ENROLLMENT_STUDENT</a:t>
            </a:r>
          </a:p>
          <a:p>
            <a:r>
              <a:rPr lang="en-US" sz="1000" dirty="0"/>
              <a:t>        FOREIGN KEY (Student_ID)</a:t>
            </a:r>
          </a:p>
          <a:p>
            <a:r>
              <a:rPr lang="en-US" sz="1000" dirty="0"/>
              <a:t>        REFERENCES STUDENT(Student_ID)</a:t>
            </a:r>
          </a:p>
          <a:p>
            <a:r>
              <a:rPr lang="en-US" sz="1000" dirty="0"/>
              <a:t>);</a:t>
            </a:r>
          </a:p>
          <a:p>
            <a:endParaRPr lang="en-US" sz="1000" dirty="0"/>
          </a:p>
          <a:p>
            <a:r>
              <a:rPr lang="en-IN" sz="1000" dirty="0"/>
              <a:t>CREATE TABLE EXAMINATION (</a:t>
            </a:r>
          </a:p>
          <a:p>
            <a:r>
              <a:rPr lang="en-IN" sz="1000" dirty="0"/>
              <a:t>    </a:t>
            </a:r>
            <a:r>
              <a:rPr lang="en-IN" sz="1000" dirty="0" err="1"/>
              <a:t>Examination_ID</a:t>
            </a:r>
            <a:r>
              <a:rPr lang="en-IN" sz="1000" dirty="0"/>
              <a:t> NUMBER(5) CONSTRAINT PK_EXAMINATION PRIMARY KEY,</a:t>
            </a:r>
          </a:p>
          <a:p>
            <a:r>
              <a:rPr lang="en-IN" sz="1000" dirty="0"/>
              <a:t>    </a:t>
            </a:r>
            <a:r>
              <a:rPr lang="en-IN" sz="1000" dirty="0" err="1"/>
              <a:t>Faculty_ID</a:t>
            </a:r>
            <a:r>
              <a:rPr lang="en-IN" sz="1000" dirty="0"/>
              <a:t> NUMBER(5) NOT NULL,</a:t>
            </a:r>
          </a:p>
          <a:p>
            <a:r>
              <a:rPr lang="en-IN" sz="1000" dirty="0"/>
              <a:t>    </a:t>
            </a:r>
            <a:r>
              <a:rPr lang="en-IN" sz="1000" dirty="0" err="1"/>
              <a:t>Student_ID</a:t>
            </a:r>
            <a:r>
              <a:rPr lang="en-IN" sz="1000" dirty="0"/>
              <a:t> NUMBER(5) NOT NULL,</a:t>
            </a:r>
          </a:p>
          <a:p>
            <a:r>
              <a:rPr lang="en-IN" sz="1000" dirty="0"/>
              <a:t>    </a:t>
            </a:r>
            <a:r>
              <a:rPr lang="en-IN" sz="1000" dirty="0" err="1"/>
              <a:t>Examination_Description</a:t>
            </a:r>
            <a:r>
              <a:rPr lang="en-IN" sz="1000" dirty="0"/>
              <a:t> VARCHAR2(255) NOT NULL,</a:t>
            </a:r>
          </a:p>
          <a:p>
            <a:r>
              <a:rPr lang="en-IN" sz="1000" dirty="0"/>
              <a:t>    Exam_Type VARCHAR2(20),</a:t>
            </a:r>
          </a:p>
          <a:p>
            <a:r>
              <a:rPr lang="en-IN" sz="1000" dirty="0"/>
              <a:t>    Status VARCHAR2(30),</a:t>
            </a:r>
          </a:p>
          <a:p>
            <a:r>
              <a:rPr lang="en-IN" sz="1000" dirty="0"/>
              <a:t>    </a:t>
            </a:r>
          </a:p>
          <a:p>
            <a:r>
              <a:rPr lang="en-IN" sz="1000" dirty="0"/>
              <a:t>    CONSTRAINT FK_EXAMINATION_FACULTY</a:t>
            </a:r>
          </a:p>
          <a:p>
            <a:r>
              <a:rPr lang="en-IN" sz="1000" dirty="0"/>
              <a:t>        FOREIGN KEY (</a:t>
            </a:r>
            <a:r>
              <a:rPr lang="en-IN" sz="1000" dirty="0" err="1"/>
              <a:t>Faculty_ID</a:t>
            </a:r>
            <a:r>
              <a:rPr lang="en-IN" sz="1000" dirty="0"/>
              <a:t>)</a:t>
            </a:r>
          </a:p>
          <a:p>
            <a:r>
              <a:rPr lang="en-IN" sz="1000" dirty="0"/>
              <a:t>        REFERENCES FACULTY(</a:t>
            </a:r>
            <a:r>
              <a:rPr lang="en-IN" sz="1000" dirty="0" err="1"/>
              <a:t>Faculty_ID</a:t>
            </a:r>
            <a:r>
              <a:rPr lang="en-IN" sz="1000" dirty="0"/>
              <a:t>),</a:t>
            </a:r>
          </a:p>
          <a:p>
            <a:r>
              <a:rPr lang="en-IN" sz="1000" dirty="0"/>
              <a:t>        </a:t>
            </a:r>
          </a:p>
          <a:p>
            <a:r>
              <a:rPr lang="en-IN" sz="1000" dirty="0"/>
              <a:t>    CONSTRAINT FK_EXAMINATION_STUDENT</a:t>
            </a:r>
          </a:p>
          <a:p>
            <a:r>
              <a:rPr lang="en-IN" sz="1000" dirty="0"/>
              <a:t>        FOREIGN KEY (</a:t>
            </a:r>
            <a:r>
              <a:rPr lang="en-IN" sz="1000" dirty="0" err="1"/>
              <a:t>Student_ID</a:t>
            </a:r>
            <a:r>
              <a:rPr lang="en-IN" sz="1000" dirty="0"/>
              <a:t>)</a:t>
            </a:r>
          </a:p>
          <a:p>
            <a:r>
              <a:rPr lang="en-IN" sz="1000" dirty="0"/>
              <a:t>        REFERENCES STUDENT(</a:t>
            </a:r>
            <a:r>
              <a:rPr lang="en-IN" sz="1000" dirty="0" err="1"/>
              <a:t>Student_ID</a:t>
            </a:r>
            <a:r>
              <a:rPr lang="en-IN" sz="1000" dirty="0"/>
              <a:t>)</a:t>
            </a:r>
          </a:p>
          <a:p>
            <a:r>
              <a:rPr lang="en-IN" sz="1000" dirty="0"/>
              <a:t>);</a:t>
            </a:r>
          </a:p>
        </p:txBody>
      </p:sp>
      <p:pic>
        <p:nvPicPr>
          <p:cNvPr id="12" name="Picture 11">
            <a:extLst>
              <a:ext uri="{FF2B5EF4-FFF2-40B4-BE49-F238E27FC236}">
                <a16:creationId xmlns:a16="http://schemas.microsoft.com/office/drawing/2014/main" id="{476830B1-2AF8-7AB9-D3A2-EFF4DFE781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0371" y="921915"/>
            <a:ext cx="4804728" cy="1805041"/>
          </a:xfrm>
          <a:prstGeom prst="rect">
            <a:avLst/>
          </a:prstGeom>
        </p:spPr>
      </p:pic>
      <p:pic>
        <p:nvPicPr>
          <p:cNvPr id="14" name="Picture 13">
            <a:extLst>
              <a:ext uri="{FF2B5EF4-FFF2-40B4-BE49-F238E27FC236}">
                <a16:creationId xmlns:a16="http://schemas.microsoft.com/office/drawing/2014/main" id="{33B6F725-CF14-8147-7901-17CAF3ACEBA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24655" y="5720074"/>
            <a:ext cx="3848414" cy="1928027"/>
          </a:xfrm>
          <a:prstGeom prst="rect">
            <a:avLst/>
          </a:prstGeom>
        </p:spPr>
      </p:pic>
      <p:pic>
        <p:nvPicPr>
          <p:cNvPr id="18" name="Picture 17">
            <a:extLst>
              <a:ext uri="{FF2B5EF4-FFF2-40B4-BE49-F238E27FC236}">
                <a16:creationId xmlns:a16="http://schemas.microsoft.com/office/drawing/2014/main" id="{7194D66F-5B9D-D8C6-86E8-FABEA85621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60116" y="3029694"/>
            <a:ext cx="4336077" cy="1943268"/>
          </a:xfrm>
          <a:prstGeom prst="rect">
            <a:avLst/>
          </a:prstGeom>
        </p:spPr>
      </p:pic>
    </p:spTree>
    <p:extLst>
      <p:ext uri="{BB962C8B-B14F-4D97-AF65-F5344CB8AC3E}">
        <p14:creationId xmlns:p14="http://schemas.microsoft.com/office/powerpoint/2010/main" val="657665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8" name="TextBox 7">
            <a:extLst>
              <a:ext uri="{FF2B5EF4-FFF2-40B4-BE49-F238E27FC236}">
                <a16:creationId xmlns:a16="http://schemas.microsoft.com/office/drawing/2014/main" id="{5C2A6323-2010-01B8-E8BD-EF651296890F}"/>
              </a:ext>
            </a:extLst>
          </p:cNvPr>
          <p:cNvSpPr txBox="1"/>
          <p:nvPr/>
        </p:nvSpPr>
        <p:spPr>
          <a:xfrm>
            <a:off x="381000" y="1676400"/>
            <a:ext cx="9601200" cy="3108543"/>
          </a:xfrm>
          <a:prstGeom prst="rect">
            <a:avLst/>
          </a:prstGeom>
          <a:noFill/>
        </p:spPr>
        <p:txBody>
          <a:bodyPr wrap="square" rtlCol="0">
            <a:spAutoFit/>
          </a:bodyPr>
          <a:lstStyle/>
          <a:p>
            <a:r>
              <a:rPr lang="en-IN" sz="1400" dirty="0"/>
              <a:t>INSERT INTO STUDENT (</a:t>
            </a:r>
            <a:r>
              <a:rPr lang="en-IN" sz="1400" dirty="0" err="1"/>
              <a:t>Student_ID</a:t>
            </a:r>
            <a:r>
              <a:rPr lang="en-IN" sz="1400" dirty="0"/>
              <a:t>, </a:t>
            </a:r>
            <a:r>
              <a:rPr lang="en-IN" sz="1400" dirty="0" err="1"/>
              <a:t>Student_Name</a:t>
            </a:r>
            <a:r>
              <a:rPr lang="en-IN" sz="1400" dirty="0"/>
              <a:t>, Email, Phone, Designation, Salary) VALUES</a:t>
            </a:r>
          </a:p>
          <a:p>
            <a:r>
              <a:rPr lang="en-IN" sz="1400" dirty="0"/>
              <a:t>(301, 'Rahul', 'rahul@company.com', '9000000001', 'Developer', 45000);</a:t>
            </a:r>
          </a:p>
          <a:p>
            <a:endParaRPr lang="en-IN" sz="1400" dirty="0"/>
          </a:p>
          <a:p>
            <a:r>
              <a:rPr lang="en-IN" sz="1400" dirty="0"/>
              <a:t>INSERT INTO STUDENT (</a:t>
            </a:r>
            <a:r>
              <a:rPr lang="en-IN" sz="1400" dirty="0" err="1"/>
              <a:t>Student_ID</a:t>
            </a:r>
            <a:r>
              <a:rPr lang="en-IN" sz="1400" dirty="0"/>
              <a:t>, </a:t>
            </a:r>
            <a:r>
              <a:rPr lang="en-IN" sz="1400" dirty="0" err="1"/>
              <a:t>Student_Name</a:t>
            </a:r>
            <a:r>
              <a:rPr lang="en-IN" sz="1400" dirty="0"/>
              <a:t>, Email, Phone, Designation, Salary) VALUES</a:t>
            </a:r>
          </a:p>
          <a:p>
            <a:r>
              <a:rPr lang="en-IN" sz="1400" dirty="0"/>
              <a:t>(302, 'Anjali', 'anjali@company.com', '9000000002', 'Tester', 40000);</a:t>
            </a:r>
          </a:p>
          <a:p>
            <a:endParaRPr lang="en-IN" sz="1400" dirty="0"/>
          </a:p>
          <a:p>
            <a:r>
              <a:rPr lang="en-IN" sz="1400" dirty="0"/>
              <a:t>INSERT INTO STUDENT (</a:t>
            </a:r>
            <a:r>
              <a:rPr lang="en-IN" sz="1400" dirty="0" err="1"/>
              <a:t>Student_ID</a:t>
            </a:r>
            <a:r>
              <a:rPr lang="en-IN" sz="1400" dirty="0"/>
              <a:t>, </a:t>
            </a:r>
            <a:r>
              <a:rPr lang="en-IN" sz="1400" dirty="0" err="1"/>
              <a:t>Student_Name</a:t>
            </a:r>
            <a:r>
              <a:rPr lang="en-IN" sz="1400" dirty="0"/>
              <a:t>, Email, Phone, Designation, Salary) VALUES</a:t>
            </a:r>
          </a:p>
          <a:p>
            <a:r>
              <a:rPr lang="en-IN" sz="1400" dirty="0"/>
              <a:t>(303, 'Suresh', 'suresh@company.com', '9000000003', 'Developer', 50000);</a:t>
            </a:r>
          </a:p>
          <a:p>
            <a:endParaRPr lang="en-IN" sz="1400" dirty="0"/>
          </a:p>
          <a:p>
            <a:r>
              <a:rPr lang="en-IN" sz="1400" dirty="0"/>
              <a:t>INSERT INTO STUDENT (</a:t>
            </a:r>
            <a:r>
              <a:rPr lang="en-IN" sz="1400" dirty="0" err="1"/>
              <a:t>Student_ID</a:t>
            </a:r>
            <a:r>
              <a:rPr lang="en-IN" sz="1400" dirty="0"/>
              <a:t>, </a:t>
            </a:r>
            <a:r>
              <a:rPr lang="en-IN" sz="1400" dirty="0" err="1"/>
              <a:t>Student_Name</a:t>
            </a:r>
            <a:r>
              <a:rPr lang="en-IN" sz="1400" dirty="0"/>
              <a:t>, Email, Phone, Designation, Salary) VALUES</a:t>
            </a:r>
          </a:p>
          <a:p>
            <a:r>
              <a:rPr lang="en-IN" sz="1400" dirty="0"/>
              <a:t>(304, 'Divya', 'divya@company.com', '9000000004', 'Designer', 42000);</a:t>
            </a:r>
          </a:p>
          <a:p>
            <a:endParaRPr lang="en-IN" sz="1400" dirty="0"/>
          </a:p>
          <a:p>
            <a:r>
              <a:rPr lang="en-IN" sz="1400" dirty="0"/>
              <a:t>INSERT INTO STUDENT (</a:t>
            </a:r>
            <a:r>
              <a:rPr lang="en-IN" sz="1400" dirty="0" err="1"/>
              <a:t>Student_ID</a:t>
            </a:r>
            <a:r>
              <a:rPr lang="en-IN" sz="1400" dirty="0"/>
              <a:t>, </a:t>
            </a:r>
            <a:r>
              <a:rPr lang="en-IN" sz="1400" dirty="0" err="1"/>
              <a:t>Student_Name</a:t>
            </a:r>
            <a:r>
              <a:rPr lang="en-IN" sz="1400" dirty="0"/>
              <a:t>, Email, Phone, Designation, Salary) VALUES</a:t>
            </a:r>
          </a:p>
          <a:p>
            <a:r>
              <a:rPr lang="en-IN" sz="1400" dirty="0"/>
              <a:t>(305, 'Vijay', 'vijay@company.com', '9000000005', 'Course Manager', 65000);</a:t>
            </a:r>
          </a:p>
        </p:txBody>
      </p:sp>
      <p:sp>
        <p:nvSpPr>
          <p:cNvPr id="10" name="TextBox 9">
            <a:extLst>
              <a:ext uri="{FF2B5EF4-FFF2-40B4-BE49-F238E27FC236}">
                <a16:creationId xmlns:a16="http://schemas.microsoft.com/office/drawing/2014/main" id="{AF106C80-0835-5A8E-A8A9-DCE46426BF3F}"/>
              </a:ext>
            </a:extLst>
          </p:cNvPr>
          <p:cNvSpPr txBox="1"/>
          <p:nvPr/>
        </p:nvSpPr>
        <p:spPr>
          <a:xfrm>
            <a:off x="419100" y="986316"/>
            <a:ext cx="5562600" cy="369332"/>
          </a:xfrm>
          <a:prstGeom prst="rect">
            <a:avLst/>
          </a:prstGeom>
          <a:noFill/>
        </p:spPr>
        <p:txBody>
          <a:bodyPr wrap="square" rtlCol="0">
            <a:spAutoFit/>
          </a:bodyPr>
          <a:lstStyle/>
          <a:p>
            <a:r>
              <a:rPr lang="en-US" b="1" dirty="0"/>
              <a:t>Inserting the sample data into Student Table</a:t>
            </a:r>
            <a:endParaRPr lang="en-IN" b="1" dirty="0"/>
          </a:p>
        </p:txBody>
      </p:sp>
      <p:pic>
        <p:nvPicPr>
          <p:cNvPr id="12" name="Picture 11">
            <a:extLst>
              <a:ext uri="{FF2B5EF4-FFF2-40B4-BE49-F238E27FC236}">
                <a16:creationId xmlns:a16="http://schemas.microsoft.com/office/drawing/2014/main" id="{849E64E1-2A3D-2B45-4C54-26D6556CBC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5908026"/>
            <a:ext cx="7477125" cy="1543050"/>
          </a:xfrm>
          <a:prstGeom prst="rect">
            <a:avLst/>
          </a:prstGeom>
        </p:spPr>
      </p:pic>
      <p:sp>
        <p:nvSpPr>
          <p:cNvPr id="13" name="TextBox 12">
            <a:extLst>
              <a:ext uri="{FF2B5EF4-FFF2-40B4-BE49-F238E27FC236}">
                <a16:creationId xmlns:a16="http://schemas.microsoft.com/office/drawing/2014/main" id="{08665665-59AB-0D2C-03E0-A5970DB63181}"/>
              </a:ext>
            </a:extLst>
          </p:cNvPr>
          <p:cNvSpPr txBox="1"/>
          <p:nvPr/>
        </p:nvSpPr>
        <p:spPr>
          <a:xfrm>
            <a:off x="367990" y="5232882"/>
            <a:ext cx="3238500" cy="430887"/>
          </a:xfrm>
          <a:prstGeom prst="rect">
            <a:avLst/>
          </a:prstGeom>
          <a:noFill/>
        </p:spPr>
        <p:txBody>
          <a:bodyPr wrap="square" rtlCol="0">
            <a:spAutoFit/>
          </a:bodyPr>
          <a:lstStyle/>
          <a:p>
            <a:r>
              <a:rPr lang="en-US" sz="2200" b="1" dirty="0"/>
              <a:t>Output:</a:t>
            </a:r>
            <a:endParaRPr lang="en-IN" sz="2200" b="1" dirty="0"/>
          </a:p>
        </p:txBody>
      </p:sp>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10" name="TextBox 9">
            <a:extLst>
              <a:ext uri="{FF2B5EF4-FFF2-40B4-BE49-F238E27FC236}">
                <a16:creationId xmlns:a16="http://schemas.microsoft.com/office/drawing/2014/main" id="{7DA49C29-6B37-22E6-4F1B-4AE12664CA45}"/>
              </a:ext>
            </a:extLst>
          </p:cNvPr>
          <p:cNvSpPr txBox="1"/>
          <p:nvPr/>
        </p:nvSpPr>
        <p:spPr>
          <a:xfrm>
            <a:off x="872250" y="3938594"/>
            <a:ext cx="5833349" cy="830997"/>
          </a:xfrm>
          <a:prstGeom prst="rect">
            <a:avLst/>
          </a:prstGeom>
          <a:noFill/>
        </p:spPr>
        <p:txBody>
          <a:bodyPr wrap="square">
            <a:spAutoFit/>
          </a:bodyPr>
          <a:lstStyle/>
          <a:p>
            <a:r>
              <a:rPr lang="en-IN" sz="1600" dirty="0"/>
              <a:t>ALTER TABLE STUDENT ADD Experience NUMBER(2);</a:t>
            </a:r>
          </a:p>
          <a:p>
            <a:endParaRPr lang="en-IN" sz="1600" dirty="0"/>
          </a:p>
          <a:p>
            <a:r>
              <a:rPr lang="en-IN" sz="1600" dirty="0"/>
              <a:t>DESC STUDENT;</a:t>
            </a:r>
          </a:p>
        </p:txBody>
      </p:sp>
      <p:sp>
        <p:nvSpPr>
          <p:cNvPr id="11" name="TextBox 10">
            <a:extLst>
              <a:ext uri="{FF2B5EF4-FFF2-40B4-BE49-F238E27FC236}">
                <a16:creationId xmlns:a16="http://schemas.microsoft.com/office/drawing/2014/main" id="{672BE85E-259A-A45E-ECB5-5F88882364D4}"/>
              </a:ext>
            </a:extLst>
          </p:cNvPr>
          <p:cNvSpPr txBox="1"/>
          <p:nvPr/>
        </p:nvSpPr>
        <p:spPr>
          <a:xfrm>
            <a:off x="235743" y="3455639"/>
            <a:ext cx="5103904" cy="369332"/>
          </a:xfrm>
          <a:prstGeom prst="rect">
            <a:avLst/>
          </a:prstGeom>
          <a:noFill/>
        </p:spPr>
        <p:txBody>
          <a:bodyPr wrap="square" rtlCol="0">
            <a:spAutoFit/>
          </a:bodyPr>
          <a:lstStyle/>
          <a:p>
            <a:r>
              <a:rPr lang="en-US" b="1" dirty="0"/>
              <a:t>DDL Command</a:t>
            </a:r>
            <a:endParaRPr lang="en-IN" b="1" dirty="0"/>
          </a:p>
        </p:txBody>
      </p:sp>
      <p:pic>
        <p:nvPicPr>
          <p:cNvPr id="13" name="Picture 12">
            <a:extLst>
              <a:ext uri="{FF2B5EF4-FFF2-40B4-BE49-F238E27FC236}">
                <a16:creationId xmlns:a16="http://schemas.microsoft.com/office/drawing/2014/main" id="{ECAD75A3-88F4-B54A-2B35-994644B200AE}"/>
              </a:ext>
            </a:extLst>
          </p:cNvPr>
          <p:cNvPicPr>
            <a:picLocks noChangeAspect="1"/>
          </p:cNvPicPr>
          <p:nvPr/>
        </p:nvPicPr>
        <p:blipFill>
          <a:blip r:embed="rId6">
            <a:extLst>
              <a:ext uri="{28A0092B-C50C-407E-A947-70E740481C1C}">
                <a14:useLocalDpi xmlns:a14="http://schemas.microsoft.com/office/drawing/2010/main" val="0"/>
              </a:ext>
            </a:extLst>
          </a:blip>
          <a:srcRect b="27639"/>
          <a:stretch>
            <a:fillRect/>
          </a:stretch>
        </p:blipFill>
        <p:spPr>
          <a:xfrm>
            <a:off x="435414" y="5769435"/>
            <a:ext cx="4060387" cy="2002965"/>
          </a:xfrm>
          <a:prstGeom prst="rect">
            <a:avLst/>
          </a:prstGeom>
        </p:spPr>
      </p:pic>
      <p:pic>
        <p:nvPicPr>
          <p:cNvPr id="16" name="Picture 15">
            <a:extLst>
              <a:ext uri="{FF2B5EF4-FFF2-40B4-BE49-F238E27FC236}">
                <a16:creationId xmlns:a16="http://schemas.microsoft.com/office/drawing/2014/main" id="{C781D153-F7A5-0EC5-9AA6-159F8952E36F}"/>
              </a:ext>
            </a:extLst>
          </p:cNvPr>
          <p:cNvPicPr>
            <a:picLocks noChangeAspect="1"/>
          </p:cNvPicPr>
          <p:nvPr/>
        </p:nvPicPr>
        <p:blipFill>
          <a:blip r:embed="rId7">
            <a:extLst>
              <a:ext uri="{28A0092B-C50C-407E-A947-70E740481C1C}">
                <a14:useLocalDpi xmlns:a14="http://schemas.microsoft.com/office/drawing/2010/main" val="0"/>
              </a:ext>
            </a:extLst>
          </a:blip>
          <a:srcRect t="261" b="18894"/>
          <a:stretch>
            <a:fillRect/>
          </a:stretch>
        </p:blipFill>
        <p:spPr>
          <a:xfrm>
            <a:off x="5485355" y="5849215"/>
            <a:ext cx="3959935" cy="1923185"/>
          </a:xfrm>
          <a:prstGeom prst="rect">
            <a:avLst/>
          </a:prstGeom>
        </p:spPr>
      </p:pic>
      <p:pic>
        <p:nvPicPr>
          <p:cNvPr id="18" name="table">
            <a:extLst>
              <a:ext uri="{FF2B5EF4-FFF2-40B4-BE49-F238E27FC236}">
                <a16:creationId xmlns:a16="http://schemas.microsoft.com/office/drawing/2014/main" id="{0CB39892-C6B4-2EDC-106D-1CA054BFBA32}"/>
              </a:ext>
            </a:extLst>
          </p:cNvPr>
          <p:cNvPicPr>
            <a:picLocks noChangeAspect="1"/>
          </p:cNvPicPr>
          <p:nvPr/>
        </p:nvPicPr>
        <p:blipFill>
          <a:blip r:embed="rId8"/>
          <a:stretch>
            <a:fillRect/>
          </a:stretch>
        </p:blipFill>
        <p:spPr>
          <a:xfrm>
            <a:off x="905705" y="943100"/>
            <a:ext cx="5542704" cy="2382754"/>
          </a:xfrm>
          <a:prstGeom prst="rect">
            <a:avLst/>
          </a:prstGeom>
        </p:spPr>
      </p:pic>
      <p:sp>
        <p:nvSpPr>
          <p:cNvPr id="19" name="TextBox 18">
            <a:extLst>
              <a:ext uri="{FF2B5EF4-FFF2-40B4-BE49-F238E27FC236}">
                <a16:creationId xmlns:a16="http://schemas.microsoft.com/office/drawing/2014/main" id="{6297FE2C-B6B7-FBC8-E26D-45146BBBACD8}"/>
              </a:ext>
            </a:extLst>
          </p:cNvPr>
          <p:cNvSpPr txBox="1"/>
          <p:nvPr/>
        </p:nvSpPr>
        <p:spPr>
          <a:xfrm>
            <a:off x="235743" y="5312500"/>
            <a:ext cx="2486264" cy="369332"/>
          </a:xfrm>
          <a:prstGeom prst="rect">
            <a:avLst/>
          </a:prstGeom>
          <a:noFill/>
        </p:spPr>
        <p:txBody>
          <a:bodyPr wrap="square" rtlCol="0">
            <a:spAutoFit/>
          </a:bodyPr>
          <a:lstStyle/>
          <a:p>
            <a:r>
              <a:rPr lang="en-US" b="1" dirty="0"/>
              <a:t>Before Updation</a:t>
            </a:r>
            <a:endParaRPr lang="en-IN" b="1" dirty="0"/>
          </a:p>
        </p:txBody>
      </p:sp>
      <p:sp>
        <p:nvSpPr>
          <p:cNvPr id="20" name="TextBox 19">
            <a:extLst>
              <a:ext uri="{FF2B5EF4-FFF2-40B4-BE49-F238E27FC236}">
                <a16:creationId xmlns:a16="http://schemas.microsoft.com/office/drawing/2014/main" id="{B142630A-C60C-C998-C9FC-F287BF78C1BC}"/>
              </a:ext>
            </a:extLst>
          </p:cNvPr>
          <p:cNvSpPr txBox="1"/>
          <p:nvPr/>
        </p:nvSpPr>
        <p:spPr>
          <a:xfrm>
            <a:off x="5347122" y="5279635"/>
            <a:ext cx="2202573" cy="369332"/>
          </a:xfrm>
          <a:prstGeom prst="rect">
            <a:avLst/>
          </a:prstGeom>
          <a:noFill/>
        </p:spPr>
        <p:txBody>
          <a:bodyPr wrap="square" rtlCol="0">
            <a:spAutoFit/>
          </a:bodyPr>
          <a:lstStyle/>
          <a:p>
            <a:r>
              <a:rPr lang="en-US" b="1" dirty="0"/>
              <a:t>After Updation</a:t>
            </a:r>
            <a:endParaRPr lang="en-IN" b="1" dirty="0"/>
          </a:p>
        </p:txBody>
      </p:sp>
    </p:spTree>
    <p:extLst>
      <p:ext uri="{BB962C8B-B14F-4D97-AF65-F5344CB8AC3E}">
        <p14:creationId xmlns:p14="http://schemas.microsoft.com/office/powerpoint/2010/main" val="260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C24C1-56CD-B6BF-2E9D-AB0B42BE712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7819F1A-CD91-4E81-B4FA-9478528D71CB}"/>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B921DECC-EC7C-3849-C316-77123394B7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64B1FE52-ED30-A48F-65CA-0FEA06C600EA}"/>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FC26A451-2E2A-25F0-73E9-B0BA75F154E9}"/>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2B978693-C26A-DE11-D66E-9F6D559C98E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4401F084-F01B-0C4B-F3A0-1EE7C575E9E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14430C9D-0CAC-9CE8-AA50-D43EB67F01F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67846263-80C5-2665-1226-C965445B1A50}"/>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9" name="TextBox 8">
            <a:extLst>
              <a:ext uri="{FF2B5EF4-FFF2-40B4-BE49-F238E27FC236}">
                <a16:creationId xmlns:a16="http://schemas.microsoft.com/office/drawing/2014/main" id="{5844F819-4F65-0863-109B-F97BE8F75999}"/>
              </a:ext>
            </a:extLst>
          </p:cNvPr>
          <p:cNvSpPr txBox="1"/>
          <p:nvPr/>
        </p:nvSpPr>
        <p:spPr>
          <a:xfrm>
            <a:off x="613477" y="880617"/>
            <a:ext cx="3962400" cy="369332"/>
          </a:xfrm>
          <a:prstGeom prst="rect">
            <a:avLst/>
          </a:prstGeom>
          <a:noFill/>
        </p:spPr>
        <p:txBody>
          <a:bodyPr wrap="square" rtlCol="0">
            <a:spAutoFit/>
          </a:bodyPr>
          <a:lstStyle/>
          <a:p>
            <a:r>
              <a:rPr lang="en-US" b="1" dirty="0"/>
              <a:t>DML Command</a:t>
            </a:r>
            <a:endParaRPr lang="en-IN" b="1" dirty="0"/>
          </a:p>
        </p:txBody>
      </p:sp>
      <p:sp>
        <p:nvSpPr>
          <p:cNvPr id="12" name="TextBox 11">
            <a:extLst>
              <a:ext uri="{FF2B5EF4-FFF2-40B4-BE49-F238E27FC236}">
                <a16:creationId xmlns:a16="http://schemas.microsoft.com/office/drawing/2014/main" id="{CB12B7EC-EC70-528F-F813-FE97A59A1CF7}"/>
              </a:ext>
            </a:extLst>
          </p:cNvPr>
          <p:cNvSpPr txBox="1"/>
          <p:nvPr/>
        </p:nvSpPr>
        <p:spPr>
          <a:xfrm>
            <a:off x="1066800" y="1373688"/>
            <a:ext cx="8534400" cy="923330"/>
          </a:xfrm>
          <a:prstGeom prst="rect">
            <a:avLst/>
          </a:prstGeom>
          <a:noFill/>
        </p:spPr>
        <p:txBody>
          <a:bodyPr wrap="square" rtlCol="0">
            <a:spAutoFit/>
          </a:bodyPr>
          <a:lstStyle/>
          <a:p>
            <a:r>
              <a:rPr lang="en-US" dirty="0"/>
              <a:t>UPDATE STUDENT SET Salary = 55000 WHERE Student_ID = 301;</a:t>
            </a:r>
          </a:p>
          <a:p>
            <a:endParaRPr lang="en-US" dirty="0"/>
          </a:p>
          <a:p>
            <a:r>
              <a:rPr lang="en-US" dirty="0"/>
              <a:t>SELECT * FROM STUDENT WHERE Student_ID = 301;</a:t>
            </a:r>
            <a:endParaRPr lang="en-IN" dirty="0"/>
          </a:p>
        </p:txBody>
      </p:sp>
      <p:sp>
        <p:nvSpPr>
          <p:cNvPr id="24" name="TextBox 23">
            <a:extLst>
              <a:ext uri="{FF2B5EF4-FFF2-40B4-BE49-F238E27FC236}">
                <a16:creationId xmlns:a16="http://schemas.microsoft.com/office/drawing/2014/main" id="{62BCDE2A-DE44-2129-FEB5-75661F8C0BA8}"/>
              </a:ext>
            </a:extLst>
          </p:cNvPr>
          <p:cNvSpPr txBox="1"/>
          <p:nvPr/>
        </p:nvSpPr>
        <p:spPr>
          <a:xfrm>
            <a:off x="290750" y="2450068"/>
            <a:ext cx="2223850" cy="369332"/>
          </a:xfrm>
          <a:prstGeom prst="rect">
            <a:avLst/>
          </a:prstGeom>
          <a:noFill/>
        </p:spPr>
        <p:txBody>
          <a:bodyPr wrap="square">
            <a:spAutoFit/>
          </a:bodyPr>
          <a:lstStyle/>
          <a:p>
            <a:r>
              <a:rPr lang="en-US" b="1" dirty="0"/>
              <a:t>Before Updation</a:t>
            </a:r>
            <a:endParaRPr lang="en-IN" b="1" dirty="0"/>
          </a:p>
        </p:txBody>
      </p:sp>
      <p:sp>
        <p:nvSpPr>
          <p:cNvPr id="26" name="TextBox 25">
            <a:extLst>
              <a:ext uri="{FF2B5EF4-FFF2-40B4-BE49-F238E27FC236}">
                <a16:creationId xmlns:a16="http://schemas.microsoft.com/office/drawing/2014/main" id="{25A66F4F-D47D-2333-8DEA-3DA0F3FD9296}"/>
              </a:ext>
            </a:extLst>
          </p:cNvPr>
          <p:cNvSpPr txBox="1"/>
          <p:nvPr/>
        </p:nvSpPr>
        <p:spPr>
          <a:xfrm>
            <a:off x="5375605" y="2451927"/>
            <a:ext cx="2154793" cy="369332"/>
          </a:xfrm>
          <a:prstGeom prst="rect">
            <a:avLst/>
          </a:prstGeom>
          <a:noFill/>
        </p:spPr>
        <p:txBody>
          <a:bodyPr wrap="square">
            <a:spAutoFit/>
          </a:bodyPr>
          <a:lstStyle/>
          <a:p>
            <a:r>
              <a:rPr lang="en-US" b="1" dirty="0"/>
              <a:t>After Updation</a:t>
            </a:r>
            <a:endParaRPr lang="en-IN" b="1" dirty="0"/>
          </a:p>
        </p:txBody>
      </p:sp>
      <p:pic>
        <p:nvPicPr>
          <p:cNvPr id="28" name="Picture 27">
            <a:extLst>
              <a:ext uri="{FF2B5EF4-FFF2-40B4-BE49-F238E27FC236}">
                <a16:creationId xmlns:a16="http://schemas.microsoft.com/office/drawing/2014/main" id="{7B8FD8F4-E301-5953-640E-2C29C655DB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4819" y="2899967"/>
            <a:ext cx="4357220" cy="1519633"/>
          </a:xfrm>
          <a:prstGeom prst="rect">
            <a:avLst/>
          </a:prstGeom>
        </p:spPr>
      </p:pic>
      <p:pic>
        <p:nvPicPr>
          <p:cNvPr id="30" name="Picture 29">
            <a:extLst>
              <a:ext uri="{FF2B5EF4-FFF2-40B4-BE49-F238E27FC236}">
                <a16:creationId xmlns:a16="http://schemas.microsoft.com/office/drawing/2014/main" id="{D4A80734-FAA0-74D3-1D15-2AD7DC9C53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5605" y="3200400"/>
            <a:ext cx="4114800" cy="600075"/>
          </a:xfrm>
          <a:prstGeom prst="rect">
            <a:avLst/>
          </a:prstGeom>
        </p:spPr>
      </p:pic>
      <p:sp>
        <p:nvSpPr>
          <p:cNvPr id="34" name="TextBox 33">
            <a:extLst>
              <a:ext uri="{FF2B5EF4-FFF2-40B4-BE49-F238E27FC236}">
                <a16:creationId xmlns:a16="http://schemas.microsoft.com/office/drawing/2014/main" id="{4D0535CB-A4DA-BB0C-C56C-1AD9A056F169}"/>
              </a:ext>
            </a:extLst>
          </p:cNvPr>
          <p:cNvSpPr txBox="1"/>
          <p:nvPr/>
        </p:nvSpPr>
        <p:spPr>
          <a:xfrm>
            <a:off x="613477" y="5080120"/>
            <a:ext cx="5029200" cy="369332"/>
          </a:xfrm>
          <a:prstGeom prst="rect">
            <a:avLst/>
          </a:prstGeom>
          <a:noFill/>
        </p:spPr>
        <p:txBody>
          <a:bodyPr wrap="square">
            <a:spAutoFit/>
          </a:bodyPr>
          <a:lstStyle/>
          <a:p>
            <a:r>
              <a:rPr lang="en-US" b="1" dirty="0"/>
              <a:t>DQL Command</a:t>
            </a:r>
            <a:endParaRPr lang="en-IN" b="1" dirty="0"/>
          </a:p>
        </p:txBody>
      </p:sp>
      <p:sp>
        <p:nvSpPr>
          <p:cNvPr id="36" name="TextBox 35">
            <a:extLst>
              <a:ext uri="{FF2B5EF4-FFF2-40B4-BE49-F238E27FC236}">
                <a16:creationId xmlns:a16="http://schemas.microsoft.com/office/drawing/2014/main" id="{23DE9A66-53C7-9B89-DFDF-ADA32F0E769C}"/>
              </a:ext>
            </a:extLst>
          </p:cNvPr>
          <p:cNvSpPr txBox="1"/>
          <p:nvPr/>
        </p:nvSpPr>
        <p:spPr>
          <a:xfrm>
            <a:off x="1378877" y="5774791"/>
            <a:ext cx="7139226" cy="369332"/>
          </a:xfrm>
          <a:prstGeom prst="rect">
            <a:avLst/>
          </a:prstGeom>
          <a:noFill/>
        </p:spPr>
        <p:txBody>
          <a:bodyPr wrap="square">
            <a:spAutoFit/>
          </a:bodyPr>
          <a:lstStyle/>
          <a:p>
            <a:r>
              <a:rPr lang="en-IN" dirty="0"/>
              <a:t>SELECT * FROM COURSE WHERE Status = 'Completed';</a:t>
            </a:r>
          </a:p>
        </p:txBody>
      </p:sp>
      <p:pic>
        <p:nvPicPr>
          <p:cNvPr id="38" name="Picture 37">
            <a:extLst>
              <a:ext uri="{FF2B5EF4-FFF2-40B4-BE49-F238E27FC236}">
                <a16:creationId xmlns:a16="http://schemas.microsoft.com/office/drawing/2014/main" id="{56BFC218-08FD-8094-4B12-DB23860D8A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2251" y="6479304"/>
            <a:ext cx="8162925" cy="819150"/>
          </a:xfrm>
          <a:prstGeom prst="rect">
            <a:avLst/>
          </a:prstGeom>
        </p:spPr>
      </p:pic>
    </p:spTree>
    <p:extLst>
      <p:ext uri="{BB962C8B-B14F-4D97-AF65-F5344CB8AC3E}">
        <p14:creationId xmlns:p14="http://schemas.microsoft.com/office/powerpoint/2010/main" val="1786951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2821D-3C75-F96B-6A3F-9F1445082A89}"/>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5B3CB00-0333-8976-ABDB-6B086C235EEF}"/>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B62C15CF-B993-DA01-CF41-C95133E3CEDB}"/>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EB7992EF-8700-177C-81E3-1C202813E4ED}"/>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813D7C5F-EDC7-06AF-1C96-88B899DF20D9}"/>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29F75F04-3AFF-BE41-7C01-257E924C821E}"/>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8E45C1CC-BD9D-4858-DEEE-A0E70DF7B087}"/>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13B2062E-BF01-513B-DB5C-FCFCF681D28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8ACE28E6-9212-EC86-D543-B643159999E4}"/>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16" name="TextBox 15">
            <a:extLst>
              <a:ext uri="{FF2B5EF4-FFF2-40B4-BE49-F238E27FC236}">
                <a16:creationId xmlns:a16="http://schemas.microsoft.com/office/drawing/2014/main" id="{7DBB6CC8-6B5C-AE63-51F5-7B84B035EF1D}"/>
              </a:ext>
            </a:extLst>
          </p:cNvPr>
          <p:cNvSpPr txBox="1"/>
          <p:nvPr/>
        </p:nvSpPr>
        <p:spPr>
          <a:xfrm>
            <a:off x="442332" y="3776860"/>
            <a:ext cx="5103904" cy="2062103"/>
          </a:xfrm>
          <a:prstGeom prst="rect">
            <a:avLst/>
          </a:prstGeom>
          <a:noFill/>
        </p:spPr>
        <p:txBody>
          <a:bodyPr wrap="square">
            <a:spAutoFit/>
          </a:bodyPr>
          <a:lstStyle/>
          <a:p>
            <a:r>
              <a:rPr lang="en-IN" sz="1600" dirty="0"/>
              <a:t>INSERT INTO COURSE</a:t>
            </a:r>
          </a:p>
          <a:p>
            <a:r>
              <a:rPr lang="en-IN" sz="1600" dirty="0"/>
              <a:t>(</a:t>
            </a:r>
            <a:r>
              <a:rPr lang="en-IN" sz="1600" dirty="0" err="1"/>
              <a:t>Course_ID</a:t>
            </a:r>
            <a:r>
              <a:rPr lang="en-IN" sz="1600" dirty="0"/>
              <a:t>, </a:t>
            </a:r>
            <a:r>
              <a:rPr lang="en-IN" sz="1600" dirty="0" err="1"/>
              <a:t>Department_ID</a:t>
            </a:r>
            <a:r>
              <a:rPr lang="en-IN" sz="1600" dirty="0"/>
              <a:t>, </a:t>
            </a:r>
            <a:r>
              <a:rPr lang="en-IN" sz="1600" dirty="0" err="1"/>
              <a:t>Course_Name</a:t>
            </a:r>
            <a:r>
              <a:rPr lang="en-IN" sz="1600" dirty="0"/>
              <a:t>, </a:t>
            </a:r>
            <a:r>
              <a:rPr lang="en-IN" sz="1600" dirty="0" err="1"/>
              <a:t>Start_Date</a:t>
            </a:r>
            <a:r>
              <a:rPr lang="en-IN" sz="1600" dirty="0"/>
              <a:t>, </a:t>
            </a:r>
            <a:r>
              <a:rPr lang="en-IN" sz="1600" dirty="0" err="1"/>
              <a:t>End_Date</a:t>
            </a:r>
            <a:r>
              <a:rPr lang="en-IN" sz="1600" dirty="0"/>
              <a:t>, Budget, Status)</a:t>
            </a:r>
          </a:p>
          <a:p>
            <a:r>
              <a:rPr lang="en-IN" sz="1600" dirty="0"/>
              <a:t>VALUES</a:t>
            </a:r>
          </a:p>
          <a:p>
            <a:r>
              <a:rPr lang="en-IN" sz="1600" dirty="0"/>
              <a:t>(101, 1, 'Banking Management System',</a:t>
            </a:r>
          </a:p>
          <a:p>
            <a:r>
              <a:rPr lang="en-IN" sz="1600" dirty="0"/>
              <a:t>TO_DATE('10-01-2026','DD-MM-YYYY'),</a:t>
            </a:r>
          </a:p>
          <a:p>
            <a:r>
              <a:rPr lang="en-IN" sz="1600" dirty="0"/>
              <a:t>TO_DATE('30-06-2026','DD-MM-YYYY'),</a:t>
            </a:r>
          </a:p>
          <a:p>
            <a:r>
              <a:rPr lang="en-IN" sz="1600" dirty="0"/>
              <a:t>500000, 'Completed');</a:t>
            </a:r>
          </a:p>
        </p:txBody>
      </p:sp>
      <p:sp>
        <p:nvSpPr>
          <p:cNvPr id="19" name="TextBox 18">
            <a:extLst>
              <a:ext uri="{FF2B5EF4-FFF2-40B4-BE49-F238E27FC236}">
                <a16:creationId xmlns:a16="http://schemas.microsoft.com/office/drawing/2014/main" id="{9968844B-AFBD-1A8F-EB8D-CBB981C78805}"/>
              </a:ext>
            </a:extLst>
          </p:cNvPr>
          <p:cNvSpPr txBox="1"/>
          <p:nvPr/>
        </p:nvSpPr>
        <p:spPr>
          <a:xfrm>
            <a:off x="980921" y="6840508"/>
            <a:ext cx="3819679" cy="338554"/>
          </a:xfrm>
          <a:prstGeom prst="rect">
            <a:avLst/>
          </a:prstGeom>
          <a:noFill/>
        </p:spPr>
        <p:txBody>
          <a:bodyPr wrap="square">
            <a:spAutoFit/>
          </a:bodyPr>
          <a:lstStyle/>
          <a:p>
            <a:r>
              <a:rPr lang="en-IN" sz="1600" dirty="0"/>
              <a:t>SELECT * FROM STUDENT;</a:t>
            </a:r>
          </a:p>
        </p:txBody>
      </p:sp>
      <p:pic>
        <p:nvPicPr>
          <p:cNvPr id="21" name="Picture 20">
            <a:extLst>
              <a:ext uri="{FF2B5EF4-FFF2-40B4-BE49-F238E27FC236}">
                <a16:creationId xmlns:a16="http://schemas.microsoft.com/office/drawing/2014/main" id="{A85FD5B9-E4D2-042C-4839-E226EB8093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13504" y="6462016"/>
            <a:ext cx="4114800" cy="1120237"/>
          </a:xfrm>
          <a:prstGeom prst="rect">
            <a:avLst/>
          </a:prstGeom>
        </p:spPr>
      </p:pic>
      <p:pic>
        <p:nvPicPr>
          <p:cNvPr id="23" name="Picture 22">
            <a:extLst>
              <a:ext uri="{FF2B5EF4-FFF2-40B4-BE49-F238E27FC236}">
                <a16:creationId xmlns:a16="http://schemas.microsoft.com/office/drawing/2014/main" id="{16D6D980-13AE-1333-E6D9-D86FD7B8F6D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46236" y="4406908"/>
            <a:ext cx="4242676" cy="702720"/>
          </a:xfrm>
          <a:prstGeom prst="rect">
            <a:avLst/>
          </a:prstGeom>
        </p:spPr>
      </p:pic>
      <p:sp>
        <p:nvSpPr>
          <p:cNvPr id="26" name="TextBox 25">
            <a:extLst>
              <a:ext uri="{FF2B5EF4-FFF2-40B4-BE49-F238E27FC236}">
                <a16:creationId xmlns:a16="http://schemas.microsoft.com/office/drawing/2014/main" id="{33B916E7-F6B3-8DE3-BB34-3F836A8C77E2}"/>
              </a:ext>
            </a:extLst>
          </p:cNvPr>
          <p:cNvSpPr txBox="1"/>
          <p:nvPr/>
        </p:nvSpPr>
        <p:spPr>
          <a:xfrm>
            <a:off x="980921" y="1005228"/>
            <a:ext cx="5257800" cy="1754326"/>
          </a:xfrm>
          <a:prstGeom prst="rect">
            <a:avLst/>
          </a:prstGeom>
          <a:noFill/>
        </p:spPr>
        <p:txBody>
          <a:bodyPr wrap="square" rtlCol="0">
            <a:spAutoFit/>
          </a:bodyPr>
          <a:lstStyle/>
          <a:p>
            <a:r>
              <a:rPr lang="en-US" b="1" dirty="0"/>
              <a:t>CRUD Means:</a:t>
            </a:r>
          </a:p>
          <a:p>
            <a:endParaRPr lang="en-US" b="1" dirty="0"/>
          </a:p>
          <a:p>
            <a:r>
              <a:rPr lang="en-US" b="1" dirty="0"/>
              <a:t>C-CREATE             INSERT</a:t>
            </a:r>
          </a:p>
          <a:p>
            <a:r>
              <a:rPr lang="en-US" b="1" dirty="0"/>
              <a:t>R-READ                 SELECT</a:t>
            </a:r>
          </a:p>
          <a:p>
            <a:r>
              <a:rPr lang="en-US" b="1" dirty="0"/>
              <a:t>U-UPDATE             UPDATE</a:t>
            </a:r>
          </a:p>
          <a:p>
            <a:r>
              <a:rPr lang="en-US" b="1" dirty="0"/>
              <a:t> D-DELETE             DELETE</a:t>
            </a:r>
            <a:endParaRPr lang="en-IN" b="1" dirty="0"/>
          </a:p>
        </p:txBody>
      </p:sp>
      <p:sp>
        <p:nvSpPr>
          <p:cNvPr id="29" name="Arrow: Right 28">
            <a:extLst>
              <a:ext uri="{FF2B5EF4-FFF2-40B4-BE49-F238E27FC236}">
                <a16:creationId xmlns:a16="http://schemas.microsoft.com/office/drawing/2014/main" id="{C1FB624F-43B6-3E3D-BF26-4319AFF7A21C}"/>
              </a:ext>
            </a:extLst>
          </p:cNvPr>
          <p:cNvSpPr/>
          <p:nvPr/>
        </p:nvSpPr>
        <p:spPr>
          <a:xfrm>
            <a:off x="2483005" y="1699620"/>
            <a:ext cx="273205" cy="562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Right 30">
            <a:extLst>
              <a:ext uri="{FF2B5EF4-FFF2-40B4-BE49-F238E27FC236}">
                <a16:creationId xmlns:a16="http://schemas.microsoft.com/office/drawing/2014/main" id="{B575AFEE-7BA4-12AA-28FF-B3908E09CA68}"/>
              </a:ext>
            </a:extLst>
          </p:cNvPr>
          <p:cNvSpPr/>
          <p:nvPr/>
        </p:nvSpPr>
        <p:spPr>
          <a:xfrm>
            <a:off x="2483005" y="1933437"/>
            <a:ext cx="273205" cy="562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AF35A754-93D2-D32A-BD8C-A17BE6065AE8}"/>
              </a:ext>
            </a:extLst>
          </p:cNvPr>
          <p:cNvSpPr/>
          <p:nvPr/>
        </p:nvSpPr>
        <p:spPr>
          <a:xfrm>
            <a:off x="2483005" y="2173803"/>
            <a:ext cx="273205" cy="562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Right 34">
            <a:extLst>
              <a:ext uri="{FF2B5EF4-FFF2-40B4-BE49-F238E27FC236}">
                <a16:creationId xmlns:a16="http://schemas.microsoft.com/office/drawing/2014/main" id="{8B5038FE-BD0C-FDA8-D915-C2357644C2C0}"/>
              </a:ext>
            </a:extLst>
          </p:cNvPr>
          <p:cNvSpPr/>
          <p:nvPr/>
        </p:nvSpPr>
        <p:spPr>
          <a:xfrm>
            <a:off x="2485322" y="2501566"/>
            <a:ext cx="273205" cy="562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BB495020-CA43-B6C5-9653-70FF14B0A6DB}"/>
              </a:ext>
            </a:extLst>
          </p:cNvPr>
          <p:cNvSpPr txBox="1"/>
          <p:nvPr/>
        </p:nvSpPr>
        <p:spPr>
          <a:xfrm>
            <a:off x="401987" y="3175855"/>
            <a:ext cx="3200400" cy="369332"/>
          </a:xfrm>
          <a:prstGeom prst="rect">
            <a:avLst/>
          </a:prstGeom>
          <a:noFill/>
        </p:spPr>
        <p:txBody>
          <a:bodyPr wrap="square" rtlCol="0">
            <a:spAutoFit/>
          </a:bodyPr>
          <a:lstStyle/>
          <a:p>
            <a:r>
              <a:rPr lang="en-US" b="1" dirty="0"/>
              <a:t>CREATE OPERATION</a:t>
            </a:r>
            <a:endParaRPr lang="en-IN" b="1" dirty="0"/>
          </a:p>
        </p:txBody>
      </p:sp>
      <p:sp>
        <p:nvSpPr>
          <p:cNvPr id="38" name="TextBox 37">
            <a:extLst>
              <a:ext uri="{FF2B5EF4-FFF2-40B4-BE49-F238E27FC236}">
                <a16:creationId xmlns:a16="http://schemas.microsoft.com/office/drawing/2014/main" id="{C9AE88E9-E644-BF33-506C-65FF7D29EBAA}"/>
              </a:ext>
            </a:extLst>
          </p:cNvPr>
          <p:cNvSpPr txBox="1"/>
          <p:nvPr/>
        </p:nvSpPr>
        <p:spPr>
          <a:xfrm>
            <a:off x="517036" y="6127241"/>
            <a:ext cx="5029200" cy="369332"/>
          </a:xfrm>
          <a:prstGeom prst="rect">
            <a:avLst/>
          </a:prstGeom>
          <a:noFill/>
        </p:spPr>
        <p:txBody>
          <a:bodyPr wrap="square">
            <a:spAutoFit/>
          </a:bodyPr>
          <a:lstStyle/>
          <a:p>
            <a:r>
              <a:rPr lang="en-US" b="1" dirty="0"/>
              <a:t>READ OPERATION</a:t>
            </a:r>
            <a:endParaRPr lang="en-IN" b="1" dirty="0"/>
          </a:p>
        </p:txBody>
      </p:sp>
    </p:spTree>
    <p:extLst>
      <p:ext uri="{BB962C8B-B14F-4D97-AF65-F5344CB8AC3E}">
        <p14:creationId xmlns:p14="http://schemas.microsoft.com/office/powerpoint/2010/main" val="1482086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2E7B-4F32-71BC-9345-25B0EE1CF5B7}"/>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2B52EA05-D1F4-C865-E411-BB12349E8174}"/>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F967F3C3-9122-62BF-4AB6-B4741E616AAE}"/>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5CD9B50-DE5E-6F01-CBB7-1A9ECE7BB6A7}"/>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FE6EF283-F023-442C-7C9C-6FE0C024162F}"/>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7704CD5F-B989-D0CA-B8B1-07DC40F0C0E2}"/>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51848699-2E31-6205-F9CD-E8F108DDAA69}"/>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5D12BCB3-7D47-F57A-87C9-C506B9396C6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148EC804-FBB8-1113-8D31-727BACA258E0}"/>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9" name="TextBox 8">
            <a:extLst>
              <a:ext uri="{FF2B5EF4-FFF2-40B4-BE49-F238E27FC236}">
                <a16:creationId xmlns:a16="http://schemas.microsoft.com/office/drawing/2014/main" id="{27C7F92C-ABA0-8D32-D75B-056EE5C2ADD8}"/>
              </a:ext>
            </a:extLst>
          </p:cNvPr>
          <p:cNvSpPr txBox="1"/>
          <p:nvPr/>
        </p:nvSpPr>
        <p:spPr>
          <a:xfrm>
            <a:off x="713678" y="1909320"/>
            <a:ext cx="5029200" cy="1200329"/>
          </a:xfrm>
          <a:prstGeom prst="rect">
            <a:avLst/>
          </a:prstGeom>
          <a:noFill/>
        </p:spPr>
        <p:txBody>
          <a:bodyPr wrap="square">
            <a:spAutoFit/>
          </a:bodyPr>
          <a:lstStyle/>
          <a:p>
            <a:r>
              <a:rPr lang="en-IN" dirty="0"/>
              <a:t>SELECT COURSE_ID, COURSE_NAME, STATUS</a:t>
            </a:r>
          </a:p>
          <a:p>
            <a:r>
              <a:rPr lang="en-IN" dirty="0"/>
              <a:t>FROM COURSE</a:t>
            </a:r>
          </a:p>
          <a:p>
            <a:r>
              <a:rPr lang="en-IN" dirty="0"/>
              <a:t>WHERE STATUS='In Progress';</a:t>
            </a:r>
          </a:p>
        </p:txBody>
      </p:sp>
      <p:pic>
        <p:nvPicPr>
          <p:cNvPr id="12" name="Picture 11">
            <a:extLst>
              <a:ext uri="{FF2B5EF4-FFF2-40B4-BE49-F238E27FC236}">
                <a16:creationId xmlns:a16="http://schemas.microsoft.com/office/drawing/2014/main" id="{749F25C0-FF30-6CA7-3228-297F12008B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3200" y="2212279"/>
            <a:ext cx="3147333" cy="594412"/>
          </a:xfrm>
          <a:prstGeom prst="rect">
            <a:avLst/>
          </a:prstGeom>
        </p:spPr>
      </p:pic>
      <p:pic>
        <p:nvPicPr>
          <p:cNvPr id="14" name="Picture 13">
            <a:extLst>
              <a:ext uri="{FF2B5EF4-FFF2-40B4-BE49-F238E27FC236}">
                <a16:creationId xmlns:a16="http://schemas.microsoft.com/office/drawing/2014/main" id="{E82FC3F5-2F71-7DA8-6A3D-93A66F466C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4015" y="6408322"/>
            <a:ext cx="4225524" cy="1135478"/>
          </a:xfrm>
          <a:prstGeom prst="rect">
            <a:avLst/>
          </a:prstGeom>
        </p:spPr>
      </p:pic>
      <p:pic>
        <p:nvPicPr>
          <p:cNvPr id="20" name="Picture 19">
            <a:extLst>
              <a:ext uri="{FF2B5EF4-FFF2-40B4-BE49-F238E27FC236}">
                <a16:creationId xmlns:a16="http://schemas.microsoft.com/office/drawing/2014/main" id="{28F89514-00D7-BE49-5EE2-DF7F616B755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68176" y="6469636"/>
            <a:ext cx="4029233" cy="922100"/>
          </a:xfrm>
          <a:prstGeom prst="rect">
            <a:avLst/>
          </a:prstGeom>
        </p:spPr>
      </p:pic>
      <p:sp>
        <p:nvSpPr>
          <p:cNvPr id="22" name="TextBox 21">
            <a:extLst>
              <a:ext uri="{FF2B5EF4-FFF2-40B4-BE49-F238E27FC236}">
                <a16:creationId xmlns:a16="http://schemas.microsoft.com/office/drawing/2014/main" id="{AD4F3D00-DF06-BB03-FDDA-5A37091238B5}"/>
              </a:ext>
            </a:extLst>
          </p:cNvPr>
          <p:cNvSpPr txBox="1"/>
          <p:nvPr/>
        </p:nvSpPr>
        <p:spPr>
          <a:xfrm>
            <a:off x="494015" y="5797346"/>
            <a:ext cx="2819400" cy="369332"/>
          </a:xfrm>
          <a:prstGeom prst="rect">
            <a:avLst/>
          </a:prstGeom>
          <a:noFill/>
        </p:spPr>
        <p:txBody>
          <a:bodyPr wrap="square" rtlCol="0">
            <a:spAutoFit/>
          </a:bodyPr>
          <a:lstStyle/>
          <a:p>
            <a:r>
              <a:rPr lang="en-US" b="1" dirty="0"/>
              <a:t>BEFORE DELETION</a:t>
            </a:r>
            <a:endParaRPr lang="en-IN" b="1" dirty="0"/>
          </a:p>
        </p:txBody>
      </p:sp>
      <p:sp>
        <p:nvSpPr>
          <p:cNvPr id="24" name="TextBox 23">
            <a:extLst>
              <a:ext uri="{FF2B5EF4-FFF2-40B4-BE49-F238E27FC236}">
                <a16:creationId xmlns:a16="http://schemas.microsoft.com/office/drawing/2014/main" id="{E4D28DCA-0E08-6244-E586-454342CBD4B9}"/>
              </a:ext>
            </a:extLst>
          </p:cNvPr>
          <p:cNvSpPr txBox="1"/>
          <p:nvPr/>
        </p:nvSpPr>
        <p:spPr>
          <a:xfrm>
            <a:off x="5593473" y="5797346"/>
            <a:ext cx="2667000" cy="369332"/>
          </a:xfrm>
          <a:prstGeom prst="rect">
            <a:avLst/>
          </a:prstGeom>
          <a:noFill/>
        </p:spPr>
        <p:txBody>
          <a:bodyPr wrap="square" rtlCol="0">
            <a:spAutoFit/>
          </a:bodyPr>
          <a:lstStyle/>
          <a:p>
            <a:r>
              <a:rPr lang="en-US" b="1" dirty="0"/>
              <a:t>AFTER DELETION</a:t>
            </a:r>
            <a:endParaRPr lang="en-IN" b="1" dirty="0"/>
          </a:p>
        </p:txBody>
      </p:sp>
      <p:sp>
        <p:nvSpPr>
          <p:cNvPr id="27" name="TextBox 26">
            <a:extLst>
              <a:ext uri="{FF2B5EF4-FFF2-40B4-BE49-F238E27FC236}">
                <a16:creationId xmlns:a16="http://schemas.microsoft.com/office/drawing/2014/main" id="{60359D7F-8FBC-DD86-582B-6B9A287C149E}"/>
              </a:ext>
            </a:extLst>
          </p:cNvPr>
          <p:cNvSpPr txBox="1"/>
          <p:nvPr/>
        </p:nvSpPr>
        <p:spPr>
          <a:xfrm>
            <a:off x="990600" y="4958010"/>
            <a:ext cx="5029200" cy="369332"/>
          </a:xfrm>
          <a:prstGeom prst="rect">
            <a:avLst/>
          </a:prstGeom>
          <a:noFill/>
        </p:spPr>
        <p:txBody>
          <a:bodyPr wrap="square">
            <a:spAutoFit/>
          </a:bodyPr>
          <a:lstStyle/>
          <a:p>
            <a:r>
              <a:rPr lang="en-IN" dirty="0"/>
              <a:t>DELETE FROM EXAMINATION WHERE EXAMINATION_ID=505;</a:t>
            </a:r>
          </a:p>
        </p:txBody>
      </p:sp>
      <p:sp>
        <p:nvSpPr>
          <p:cNvPr id="28" name="TextBox 27">
            <a:extLst>
              <a:ext uri="{FF2B5EF4-FFF2-40B4-BE49-F238E27FC236}">
                <a16:creationId xmlns:a16="http://schemas.microsoft.com/office/drawing/2014/main" id="{D0D5DB9E-695C-B27F-5EC2-848BF252C7AD}"/>
              </a:ext>
            </a:extLst>
          </p:cNvPr>
          <p:cNvSpPr txBox="1"/>
          <p:nvPr/>
        </p:nvSpPr>
        <p:spPr>
          <a:xfrm>
            <a:off x="718897" y="4335372"/>
            <a:ext cx="3810000" cy="369332"/>
          </a:xfrm>
          <a:prstGeom prst="rect">
            <a:avLst/>
          </a:prstGeom>
          <a:noFill/>
        </p:spPr>
        <p:txBody>
          <a:bodyPr wrap="square" rtlCol="0">
            <a:spAutoFit/>
          </a:bodyPr>
          <a:lstStyle/>
          <a:p>
            <a:r>
              <a:rPr lang="en-US" b="1" dirty="0"/>
              <a:t>DELETE OPERATION</a:t>
            </a:r>
            <a:endParaRPr lang="en-IN" b="1" dirty="0"/>
          </a:p>
        </p:txBody>
      </p:sp>
      <p:sp>
        <p:nvSpPr>
          <p:cNvPr id="32" name="TextBox 31">
            <a:extLst>
              <a:ext uri="{FF2B5EF4-FFF2-40B4-BE49-F238E27FC236}">
                <a16:creationId xmlns:a16="http://schemas.microsoft.com/office/drawing/2014/main" id="{10E08F9E-3F23-2DE7-3E4A-19D4EDB3D5C8}"/>
              </a:ext>
            </a:extLst>
          </p:cNvPr>
          <p:cNvSpPr txBox="1"/>
          <p:nvPr/>
        </p:nvSpPr>
        <p:spPr>
          <a:xfrm>
            <a:off x="720756" y="1278343"/>
            <a:ext cx="5029200" cy="369332"/>
          </a:xfrm>
          <a:prstGeom prst="rect">
            <a:avLst/>
          </a:prstGeom>
          <a:noFill/>
        </p:spPr>
        <p:txBody>
          <a:bodyPr wrap="square">
            <a:spAutoFit/>
          </a:bodyPr>
          <a:lstStyle/>
          <a:p>
            <a:r>
              <a:rPr lang="en-US" b="1" dirty="0"/>
              <a:t>UPDATE OPERATION</a:t>
            </a:r>
            <a:endParaRPr lang="en-IN" b="1" dirty="0"/>
          </a:p>
        </p:txBody>
      </p:sp>
    </p:spTree>
    <p:extLst>
      <p:ext uri="{BB962C8B-B14F-4D97-AF65-F5344CB8AC3E}">
        <p14:creationId xmlns:p14="http://schemas.microsoft.com/office/powerpoint/2010/main" val="4158113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8" name="TextBox 7">
            <a:extLst>
              <a:ext uri="{FF2B5EF4-FFF2-40B4-BE49-F238E27FC236}">
                <a16:creationId xmlns:a16="http://schemas.microsoft.com/office/drawing/2014/main" id="{27572573-62AC-8B93-197A-88A12FD1F2B5}"/>
              </a:ext>
            </a:extLst>
          </p:cNvPr>
          <p:cNvSpPr txBox="1"/>
          <p:nvPr/>
        </p:nvSpPr>
        <p:spPr>
          <a:xfrm>
            <a:off x="989546" y="1284520"/>
            <a:ext cx="5909549" cy="1015663"/>
          </a:xfrm>
          <a:prstGeom prst="rect">
            <a:avLst/>
          </a:prstGeom>
          <a:noFill/>
        </p:spPr>
        <p:txBody>
          <a:bodyPr wrap="square" rtlCol="0">
            <a:spAutoFit/>
          </a:bodyPr>
          <a:lstStyle/>
          <a:p>
            <a:r>
              <a:rPr lang="en-US" sz="1500" dirty="0"/>
              <a:t>SELECT </a:t>
            </a:r>
            <a:r>
              <a:rPr lang="en-US" sz="1500" dirty="0" err="1"/>
              <a:t>P.Course_Name</a:t>
            </a:r>
            <a:r>
              <a:rPr lang="en-US" sz="1500" dirty="0"/>
              <a:t>, </a:t>
            </a:r>
            <a:r>
              <a:rPr lang="en-US" sz="1500" dirty="0" err="1"/>
              <a:t>C.Department_Name</a:t>
            </a:r>
            <a:r>
              <a:rPr lang="en-US" sz="1500" dirty="0"/>
              <a:t>, </a:t>
            </a:r>
            <a:r>
              <a:rPr lang="en-US" sz="1500" dirty="0" err="1"/>
              <a:t>C.Department_HOD</a:t>
            </a:r>
            <a:endParaRPr lang="en-US" sz="1500" dirty="0"/>
          </a:p>
          <a:p>
            <a:r>
              <a:rPr lang="en-US" sz="1500" dirty="0"/>
              <a:t>FROM COURSE P</a:t>
            </a:r>
          </a:p>
          <a:p>
            <a:r>
              <a:rPr lang="en-US" sz="1500" dirty="0"/>
              <a:t>JOIN DEPARTMENT C</a:t>
            </a:r>
          </a:p>
          <a:p>
            <a:r>
              <a:rPr lang="en-US" sz="1500" dirty="0"/>
              <a:t>ON </a:t>
            </a:r>
            <a:r>
              <a:rPr lang="en-US" sz="1500" dirty="0" err="1"/>
              <a:t>P.Department_ID</a:t>
            </a:r>
            <a:r>
              <a:rPr lang="en-US" sz="1500" dirty="0"/>
              <a:t> = </a:t>
            </a:r>
            <a:r>
              <a:rPr lang="en-US" sz="1500" dirty="0" err="1"/>
              <a:t>C.Department_ID</a:t>
            </a:r>
            <a:r>
              <a:rPr lang="en-US" sz="1500" dirty="0"/>
              <a:t>;</a:t>
            </a:r>
            <a:endParaRPr lang="en-IN" sz="1500" dirty="0"/>
          </a:p>
        </p:txBody>
      </p:sp>
      <p:sp>
        <p:nvSpPr>
          <p:cNvPr id="10" name="TextBox 9">
            <a:extLst>
              <a:ext uri="{FF2B5EF4-FFF2-40B4-BE49-F238E27FC236}">
                <a16:creationId xmlns:a16="http://schemas.microsoft.com/office/drawing/2014/main" id="{ACE0667C-53DA-442E-F320-DD6D6AEABEAF}"/>
              </a:ext>
            </a:extLst>
          </p:cNvPr>
          <p:cNvSpPr txBox="1"/>
          <p:nvPr/>
        </p:nvSpPr>
        <p:spPr>
          <a:xfrm>
            <a:off x="488072" y="841004"/>
            <a:ext cx="8808327" cy="338554"/>
          </a:xfrm>
          <a:prstGeom prst="rect">
            <a:avLst/>
          </a:prstGeom>
          <a:noFill/>
        </p:spPr>
        <p:txBody>
          <a:bodyPr wrap="square" rtlCol="0">
            <a:spAutoFit/>
          </a:bodyPr>
          <a:lstStyle/>
          <a:p>
            <a:r>
              <a:rPr lang="en-US" sz="1600" b="1" dirty="0"/>
              <a:t>Performing JOINS Operation to display the Course Name and Department Name</a:t>
            </a:r>
            <a:endParaRPr lang="en-IN" sz="1600" b="1" dirty="0"/>
          </a:p>
        </p:txBody>
      </p:sp>
      <p:pic>
        <p:nvPicPr>
          <p:cNvPr id="12" name="Picture 11">
            <a:extLst>
              <a:ext uri="{FF2B5EF4-FFF2-40B4-BE49-F238E27FC236}">
                <a16:creationId xmlns:a16="http://schemas.microsoft.com/office/drawing/2014/main" id="{0068EB24-304B-E26F-AF25-6BB2559ED3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4876" y="2735756"/>
            <a:ext cx="4638675" cy="1419225"/>
          </a:xfrm>
          <a:prstGeom prst="rect">
            <a:avLst/>
          </a:prstGeom>
        </p:spPr>
      </p:pic>
      <p:sp>
        <p:nvSpPr>
          <p:cNvPr id="13" name="TextBox 12">
            <a:extLst>
              <a:ext uri="{FF2B5EF4-FFF2-40B4-BE49-F238E27FC236}">
                <a16:creationId xmlns:a16="http://schemas.microsoft.com/office/drawing/2014/main" id="{C0A5E268-D817-53DD-3F22-5869A24BA3A3}"/>
              </a:ext>
            </a:extLst>
          </p:cNvPr>
          <p:cNvSpPr txBox="1"/>
          <p:nvPr/>
        </p:nvSpPr>
        <p:spPr>
          <a:xfrm>
            <a:off x="488072" y="2366424"/>
            <a:ext cx="2479629" cy="369332"/>
          </a:xfrm>
          <a:prstGeom prst="rect">
            <a:avLst/>
          </a:prstGeom>
          <a:noFill/>
        </p:spPr>
        <p:txBody>
          <a:bodyPr wrap="square" rtlCol="0">
            <a:spAutoFit/>
          </a:bodyPr>
          <a:lstStyle/>
          <a:p>
            <a:r>
              <a:rPr lang="en-US" b="1" dirty="0"/>
              <a:t>Output:</a:t>
            </a:r>
            <a:endParaRPr lang="en-IN" b="1" dirty="0"/>
          </a:p>
        </p:txBody>
      </p:sp>
      <p:sp>
        <p:nvSpPr>
          <p:cNvPr id="16" name="TextBox 15">
            <a:extLst>
              <a:ext uri="{FF2B5EF4-FFF2-40B4-BE49-F238E27FC236}">
                <a16:creationId xmlns:a16="http://schemas.microsoft.com/office/drawing/2014/main" id="{3554ECD2-6152-EC18-7E01-A3D7B51F7157}"/>
              </a:ext>
            </a:extLst>
          </p:cNvPr>
          <p:cNvSpPr txBox="1"/>
          <p:nvPr/>
        </p:nvSpPr>
        <p:spPr>
          <a:xfrm>
            <a:off x="5343759" y="5758870"/>
            <a:ext cx="4884026" cy="584775"/>
          </a:xfrm>
          <a:prstGeom prst="rect">
            <a:avLst/>
          </a:prstGeom>
          <a:noFill/>
        </p:spPr>
        <p:txBody>
          <a:bodyPr wrap="square">
            <a:spAutoFit/>
          </a:bodyPr>
          <a:lstStyle/>
          <a:p>
            <a:r>
              <a:rPr lang="en-IN" sz="1600" dirty="0"/>
              <a:t>SELECT AVG(Salary) AS </a:t>
            </a:r>
            <a:r>
              <a:rPr lang="en-IN" sz="1600" dirty="0" err="1"/>
              <a:t>Average_Salary</a:t>
            </a:r>
            <a:endParaRPr lang="en-IN" sz="1600" dirty="0"/>
          </a:p>
          <a:p>
            <a:r>
              <a:rPr lang="en-IN" sz="1600" dirty="0"/>
              <a:t>FROM STUDENT;</a:t>
            </a:r>
          </a:p>
        </p:txBody>
      </p:sp>
      <p:sp>
        <p:nvSpPr>
          <p:cNvPr id="18" name="TextBox 17">
            <a:extLst>
              <a:ext uri="{FF2B5EF4-FFF2-40B4-BE49-F238E27FC236}">
                <a16:creationId xmlns:a16="http://schemas.microsoft.com/office/drawing/2014/main" id="{19D9F945-385B-707F-7598-063DEABAC53A}"/>
              </a:ext>
            </a:extLst>
          </p:cNvPr>
          <p:cNvSpPr txBox="1"/>
          <p:nvPr/>
        </p:nvSpPr>
        <p:spPr>
          <a:xfrm>
            <a:off x="2661424" y="4471017"/>
            <a:ext cx="4419600" cy="492443"/>
          </a:xfrm>
          <a:prstGeom prst="rect">
            <a:avLst/>
          </a:prstGeom>
          <a:noFill/>
        </p:spPr>
        <p:txBody>
          <a:bodyPr wrap="square" rtlCol="0">
            <a:spAutoFit/>
          </a:bodyPr>
          <a:lstStyle/>
          <a:p>
            <a:r>
              <a:rPr lang="en-IN" sz="2600" b="1" dirty="0">
                <a:effectLst/>
              </a:rPr>
              <a:t>Aggregate Functions</a:t>
            </a:r>
            <a:endParaRPr lang="en-IN" sz="2600" b="1" dirty="0"/>
          </a:p>
        </p:txBody>
      </p:sp>
      <p:sp>
        <p:nvSpPr>
          <p:cNvPr id="20" name="TextBox 19">
            <a:extLst>
              <a:ext uri="{FF2B5EF4-FFF2-40B4-BE49-F238E27FC236}">
                <a16:creationId xmlns:a16="http://schemas.microsoft.com/office/drawing/2014/main" id="{73B66E07-91D1-48A6-130A-C50DBBFB76D4}"/>
              </a:ext>
            </a:extLst>
          </p:cNvPr>
          <p:cNvSpPr txBox="1"/>
          <p:nvPr/>
        </p:nvSpPr>
        <p:spPr>
          <a:xfrm>
            <a:off x="501696" y="5758871"/>
            <a:ext cx="4638675" cy="584775"/>
          </a:xfrm>
          <a:prstGeom prst="rect">
            <a:avLst/>
          </a:prstGeom>
          <a:noFill/>
        </p:spPr>
        <p:txBody>
          <a:bodyPr wrap="square">
            <a:spAutoFit/>
          </a:bodyPr>
          <a:lstStyle/>
          <a:p>
            <a:r>
              <a:rPr lang="en-IN" sz="1600" dirty="0"/>
              <a:t>SELECT COUNT(*) AS </a:t>
            </a:r>
            <a:r>
              <a:rPr lang="en-IN" sz="1600" dirty="0" err="1"/>
              <a:t>Total_Students</a:t>
            </a:r>
            <a:endParaRPr lang="en-IN" sz="1600" dirty="0"/>
          </a:p>
          <a:p>
            <a:r>
              <a:rPr lang="en-IN" sz="1600" dirty="0"/>
              <a:t>FROM STUDENT;</a:t>
            </a:r>
          </a:p>
        </p:txBody>
      </p:sp>
      <p:sp>
        <p:nvSpPr>
          <p:cNvPr id="21" name="TextBox 20">
            <a:extLst>
              <a:ext uri="{FF2B5EF4-FFF2-40B4-BE49-F238E27FC236}">
                <a16:creationId xmlns:a16="http://schemas.microsoft.com/office/drawing/2014/main" id="{589490D9-FA16-EAA2-16EB-91CF7C54CD9C}"/>
              </a:ext>
            </a:extLst>
          </p:cNvPr>
          <p:cNvSpPr txBox="1"/>
          <p:nvPr/>
        </p:nvSpPr>
        <p:spPr>
          <a:xfrm>
            <a:off x="586524" y="5215444"/>
            <a:ext cx="2771084" cy="369332"/>
          </a:xfrm>
          <a:prstGeom prst="rect">
            <a:avLst/>
          </a:prstGeom>
          <a:noFill/>
        </p:spPr>
        <p:txBody>
          <a:bodyPr wrap="square" rtlCol="0">
            <a:spAutoFit/>
          </a:bodyPr>
          <a:lstStyle/>
          <a:p>
            <a:r>
              <a:rPr lang="en-IN" b="1" dirty="0"/>
              <a:t>Count employees</a:t>
            </a:r>
          </a:p>
        </p:txBody>
      </p:sp>
      <p:sp>
        <p:nvSpPr>
          <p:cNvPr id="23" name="TextBox 22">
            <a:extLst>
              <a:ext uri="{FF2B5EF4-FFF2-40B4-BE49-F238E27FC236}">
                <a16:creationId xmlns:a16="http://schemas.microsoft.com/office/drawing/2014/main" id="{F6BC979C-EE5D-CA36-F2F1-55313092A904}"/>
              </a:ext>
            </a:extLst>
          </p:cNvPr>
          <p:cNvSpPr txBox="1"/>
          <p:nvPr/>
        </p:nvSpPr>
        <p:spPr>
          <a:xfrm>
            <a:off x="5329696" y="5215444"/>
            <a:ext cx="2390078" cy="369332"/>
          </a:xfrm>
          <a:prstGeom prst="rect">
            <a:avLst/>
          </a:prstGeom>
          <a:noFill/>
        </p:spPr>
        <p:txBody>
          <a:bodyPr wrap="square">
            <a:spAutoFit/>
          </a:bodyPr>
          <a:lstStyle/>
          <a:p>
            <a:r>
              <a:rPr lang="en-IN" b="1" dirty="0"/>
              <a:t>Average salary</a:t>
            </a:r>
          </a:p>
        </p:txBody>
      </p:sp>
      <p:pic>
        <p:nvPicPr>
          <p:cNvPr id="25" name="Picture 24">
            <a:extLst>
              <a:ext uri="{FF2B5EF4-FFF2-40B4-BE49-F238E27FC236}">
                <a16:creationId xmlns:a16="http://schemas.microsoft.com/office/drawing/2014/main" id="{7515E02C-DCA6-4BD2-1F6A-5746AF9034B0}"/>
              </a:ext>
            </a:extLst>
          </p:cNvPr>
          <p:cNvPicPr>
            <a:picLocks noChangeAspect="1"/>
          </p:cNvPicPr>
          <p:nvPr/>
        </p:nvPicPr>
        <p:blipFill>
          <a:blip r:embed="rId7"/>
          <a:stretch>
            <a:fillRect/>
          </a:stretch>
        </p:blipFill>
        <p:spPr>
          <a:xfrm>
            <a:off x="621456" y="6659933"/>
            <a:ext cx="2701221" cy="542925"/>
          </a:xfrm>
          <a:prstGeom prst="rect">
            <a:avLst/>
          </a:prstGeom>
        </p:spPr>
      </p:pic>
      <p:pic>
        <p:nvPicPr>
          <p:cNvPr id="27" name="Picture 26">
            <a:extLst>
              <a:ext uri="{FF2B5EF4-FFF2-40B4-BE49-F238E27FC236}">
                <a16:creationId xmlns:a16="http://schemas.microsoft.com/office/drawing/2014/main" id="{ED97A8D7-C627-1F28-1946-266BF9ECA818}"/>
              </a:ext>
            </a:extLst>
          </p:cNvPr>
          <p:cNvPicPr>
            <a:picLocks noChangeAspect="1"/>
          </p:cNvPicPr>
          <p:nvPr/>
        </p:nvPicPr>
        <p:blipFill>
          <a:blip r:embed="rId8"/>
          <a:stretch>
            <a:fillRect/>
          </a:stretch>
        </p:blipFill>
        <p:spPr>
          <a:xfrm>
            <a:off x="6141738" y="6731196"/>
            <a:ext cx="2582533" cy="533400"/>
          </a:xfrm>
          <a:prstGeom prst="rect">
            <a:avLst/>
          </a:prstGeom>
        </p:spPr>
      </p:pic>
    </p:spTree>
    <p:extLst>
      <p:ext uri="{BB962C8B-B14F-4D97-AF65-F5344CB8AC3E}">
        <p14:creationId xmlns:p14="http://schemas.microsoft.com/office/powerpoint/2010/main" val="26077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018EC-868D-58BB-52F5-E278CCDB519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B5107E3-57A6-D6F3-60CF-8C1D6BB294C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669B436B-0945-D3F5-957F-3A75DD9C188C}"/>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BC24211E-92E0-A23E-976D-1217BF966212}"/>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D91E9C3D-2B81-0980-D060-3E047595D2B7}"/>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57CE2D4-DA2C-F6EA-7DBD-9978101B545F}"/>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AEC36CE5-0C0C-D509-288C-4CA6F2E21294}"/>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3685A4C3-9966-C594-96FF-7CEEC3D2385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6E001FA-C7E3-068A-7B07-0870FB5076B0}"/>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9" name="TextBox 8">
            <a:extLst>
              <a:ext uri="{FF2B5EF4-FFF2-40B4-BE49-F238E27FC236}">
                <a16:creationId xmlns:a16="http://schemas.microsoft.com/office/drawing/2014/main" id="{6FCCE73C-DEC3-99A6-2B60-6734FB8D1794}"/>
              </a:ext>
            </a:extLst>
          </p:cNvPr>
          <p:cNvSpPr txBox="1"/>
          <p:nvPr/>
        </p:nvSpPr>
        <p:spPr>
          <a:xfrm>
            <a:off x="528963" y="1282708"/>
            <a:ext cx="5856868" cy="1815882"/>
          </a:xfrm>
          <a:prstGeom prst="rect">
            <a:avLst/>
          </a:prstGeom>
          <a:noFill/>
        </p:spPr>
        <p:txBody>
          <a:bodyPr wrap="square">
            <a:spAutoFit/>
          </a:bodyPr>
          <a:lstStyle/>
          <a:p>
            <a:r>
              <a:rPr lang="en-IN" sz="1600" dirty="0"/>
              <a:t>CREATE VIEW STUDENT_DETAILS AS</a:t>
            </a:r>
          </a:p>
          <a:p>
            <a:r>
              <a:rPr lang="en-IN" sz="1600" dirty="0"/>
              <a:t>SELECT</a:t>
            </a:r>
          </a:p>
          <a:p>
            <a:r>
              <a:rPr lang="en-IN" sz="1600" dirty="0"/>
              <a:t>    </a:t>
            </a:r>
            <a:r>
              <a:rPr lang="en-IN" sz="1600" dirty="0" err="1"/>
              <a:t>Student_ID</a:t>
            </a:r>
            <a:r>
              <a:rPr lang="en-IN" sz="1600" dirty="0"/>
              <a:t>, </a:t>
            </a:r>
            <a:r>
              <a:rPr lang="en-IN" sz="1600" dirty="0" err="1"/>
              <a:t>Student_Name</a:t>
            </a:r>
            <a:r>
              <a:rPr lang="en-IN" sz="1600" dirty="0"/>
              <a:t>, Designation, Salary</a:t>
            </a:r>
          </a:p>
          <a:p>
            <a:r>
              <a:rPr lang="en-IN" sz="1600" dirty="0"/>
              <a:t>FROM STUDENT;</a:t>
            </a:r>
          </a:p>
          <a:p>
            <a:endParaRPr lang="en-IN" sz="1600" dirty="0"/>
          </a:p>
          <a:p>
            <a:endParaRPr lang="en-IN" sz="1600" dirty="0"/>
          </a:p>
          <a:p>
            <a:r>
              <a:rPr lang="en-IN" sz="1600" dirty="0"/>
              <a:t>SELECT * FROM STUDENT_DETAILS;</a:t>
            </a:r>
          </a:p>
        </p:txBody>
      </p:sp>
      <p:pic>
        <p:nvPicPr>
          <p:cNvPr id="11" name="Picture 10">
            <a:extLst>
              <a:ext uri="{FF2B5EF4-FFF2-40B4-BE49-F238E27FC236}">
                <a16:creationId xmlns:a16="http://schemas.microsoft.com/office/drawing/2014/main" id="{6999B7B7-B5C3-26AA-FD78-781B26844905}"/>
              </a:ext>
            </a:extLst>
          </p:cNvPr>
          <p:cNvPicPr>
            <a:picLocks noChangeAspect="1"/>
          </p:cNvPicPr>
          <p:nvPr/>
        </p:nvPicPr>
        <p:blipFill>
          <a:blip r:embed="rId6"/>
          <a:stretch>
            <a:fillRect/>
          </a:stretch>
        </p:blipFill>
        <p:spPr>
          <a:xfrm>
            <a:off x="6248400" y="1574590"/>
            <a:ext cx="3652194" cy="1524000"/>
          </a:xfrm>
          <a:prstGeom prst="rect">
            <a:avLst/>
          </a:prstGeom>
        </p:spPr>
      </p:pic>
      <p:sp>
        <p:nvSpPr>
          <p:cNvPr id="12" name="TextBox 11">
            <a:extLst>
              <a:ext uri="{FF2B5EF4-FFF2-40B4-BE49-F238E27FC236}">
                <a16:creationId xmlns:a16="http://schemas.microsoft.com/office/drawing/2014/main" id="{A071D72C-535F-89FE-61FA-4462F444EA0A}"/>
              </a:ext>
            </a:extLst>
          </p:cNvPr>
          <p:cNvSpPr txBox="1"/>
          <p:nvPr/>
        </p:nvSpPr>
        <p:spPr>
          <a:xfrm>
            <a:off x="290750" y="856800"/>
            <a:ext cx="6333295" cy="369332"/>
          </a:xfrm>
          <a:prstGeom prst="rect">
            <a:avLst/>
          </a:prstGeom>
          <a:noFill/>
        </p:spPr>
        <p:txBody>
          <a:bodyPr wrap="square" rtlCol="0">
            <a:spAutoFit/>
          </a:bodyPr>
          <a:lstStyle/>
          <a:p>
            <a:r>
              <a:rPr lang="en-US" b="1" dirty="0"/>
              <a:t>Creating VIEW and showing Student Information</a:t>
            </a:r>
            <a:endParaRPr lang="en-IN" b="1" dirty="0"/>
          </a:p>
        </p:txBody>
      </p:sp>
      <p:sp>
        <p:nvSpPr>
          <p:cNvPr id="14" name="TextBox 13">
            <a:extLst>
              <a:ext uri="{FF2B5EF4-FFF2-40B4-BE49-F238E27FC236}">
                <a16:creationId xmlns:a16="http://schemas.microsoft.com/office/drawing/2014/main" id="{58A9C7EB-88C1-8EEE-CA8A-8B42C865F013}"/>
              </a:ext>
            </a:extLst>
          </p:cNvPr>
          <p:cNvSpPr txBox="1"/>
          <p:nvPr/>
        </p:nvSpPr>
        <p:spPr>
          <a:xfrm>
            <a:off x="7719774" y="1159746"/>
            <a:ext cx="2479629" cy="369332"/>
          </a:xfrm>
          <a:prstGeom prst="rect">
            <a:avLst/>
          </a:prstGeom>
          <a:noFill/>
        </p:spPr>
        <p:txBody>
          <a:bodyPr wrap="square" rtlCol="0">
            <a:spAutoFit/>
          </a:bodyPr>
          <a:lstStyle/>
          <a:p>
            <a:r>
              <a:rPr lang="en-US" b="1" dirty="0"/>
              <a:t>Output:</a:t>
            </a:r>
            <a:endParaRPr lang="en-IN" b="1" dirty="0"/>
          </a:p>
        </p:txBody>
      </p:sp>
      <p:sp>
        <p:nvSpPr>
          <p:cNvPr id="18" name="TextBox 17">
            <a:extLst>
              <a:ext uri="{FF2B5EF4-FFF2-40B4-BE49-F238E27FC236}">
                <a16:creationId xmlns:a16="http://schemas.microsoft.com/office/drawing/2014/main" id="{1FF8D5DD-A9E6-25D6-31E7-707123697E62}"/>
              </a:ext>
            </a:extLst>
          </p:cNvPr>
          <p:cNvSpPr txBox="1"/>
          <p:nvPr/>
        </p:nvSpPr>
        <p:spPr>
          <a:xfrm>
            <a:off x="649559" y="4953000"/>
            <a:ext cx="3846241" cy="1077218"/>
          </a:xfrm>
          <a:prstGeom prst="rect">
            <a:avLst/>
          </a:prstGeom>
          <a:noFill/>
        </p:spPr>
        <p:txBody>
          <a:bodyPr wrap="square">
            <a:spAutoFit/>
          </a:bodyPr>
          <a:lstStyle/>
          <a:p>
            <a:r>
              <a:rPr lang="en-IN" sz="1600" dirty="0"/>
              <a:t>SELECT Designation, COUNT(*) AS </a:t>
            </a:r>
          </a:p>
          <a:p>
            <a:r>
              <a:rPr lang="en-IN" sz="1600" dirty="0" err="1"/>
              <a:t>Student_Count</a:t>
            </a:r>
            <a:endParaRPr lang="en-IN" sz="1600" dirty="0"/>
          </a:p>
          <a:p>
            <a:r>
              <a:rPr lang="en-IN" sz="1600" dirty="0"/>
              <a:t>FROM STUDENT</a:t>
            </a:r>
          </a:p>
          <a:p>
            <a:r>
              <a:rPr lang="en-IN" sz="1600" dirty="0"/>
              <a:t>GROUP BY Designation;</a:t>
            </a:r>
          </a:p>
        </p:txBody>
      </p:sp>
      <p:pic>
        <p:nvPicPr>
          <p:cNvPr id="20" name="Picture 19">
            <a:extLst>
              <a:ext uri="{FF2B5EF4-FFF2-40B4-BE49-F238E27FC236}">
                <a16:creationId xmlns:a16="http://schemas.microsoft.com/office/drawing/2014/main" id="{8F9B8B87-DE44-42DD-A762-31009266CE8B}"/>
              </a:ext>
            </a:extLst>
          </p:cNvPr>
          <p:cNvPicPr>
            <a:picLocks noChangeAspect="1"/>
          </p:cNvPicPr>
          <p:nvPr/>
        </p:nvPicPr>
        <p:blipFill>
          <a:blip r:embed="rId7"/>
          <a:stretch>
            <a:fillRect/>
          </a:stretch>
        </p:blipFill>
        <p:spPr>
          <a:xfrm>
            <a:off x="1070571" y="6539726"/>
            <a:ext cx="2952750" cy="1238250"/>
          </a:xfrm>
          <a:prstGeom prst="rect">
            <a:avLst/>
          </a:prstGeom>
        </p:spPr>
      </p:pic>
      <p:sp>
        <p:nvSpPr>
          <p:cNvPr id="21" name="TextBox 20">
            <a:extLst>
              <a:ext uri="{FF2B5EF4-FFF2-40B4-BE49-F238E27FC236}">
                <a16:creationId xmlns:a16="http://schemas.microsoft.com/office/drawing/2014/main" id="{D4C0BDF8-8E22-EDBF-31A0-6731075897BD}"/>
              </a:ext>
            </a:extLst>
          </p:cNvPr>
          <p:cNvSpPr txBox="1"/>
          <p:nvPr/>
        </p:nvSpPr>
        <p:spPr>
          <a:xfrm>
            <a:off x="4027038" y="3575951"/>
            <a:ext cx="3962400" cy="492443"/>
          </a:xfrm>
          <a:prstGeom prst="rect">
            <a:avLst/>
          </a:prstGeom>
          <a:noFill/>
        </p:spPr>
        <p:txBody>
          <a:bodyPr wrap="square" rtlCol="0">
            <a:spAutoFit/>
          </a:bodyPr>
          <a:lstStyle/>
          <a:p>
            <a:r>
              <a:rPr lang="en-US" sz="2600" b="1" dirty="0"/>
              <a:t>Other Queries</a:t>
            </a:r>
            <a:endParaRPr lang="en-IN" sz="2600" b="1" dirty="0"/>
          </a:p>
        </p:txBody>
      </p:sp>
      <p:sp>
        <p:nvSpPr>
          <p:cNvPr id="22" name="TextBox 21">
            <a:extLst>
              <a:ext uri="{FF2B5EF4-FFF2-40B4-BE49-F238E27FC236}">
                <a16:creationId xmlns:a16="http://schemas.microsoft.com/office/drawing/2014/main" id="{8120A5B6-567E-4A35-A495-518522D0AF58}"/>
              </a:ext>
            </a:extLst>
          </p:cNvPr>
          <p:cNvSpPr txBox="1"/>
          <p:nvPr/>
        </p:nvSpPr>
        <p:spPr>
          <a:xfrm>
            <a:off x="643652" y="4380170"/>
            <a:ext cx="2861549" cy="369332"/>
          </a:xfrm>
          <a:prstGeom prst="rect">
            <a:avLst/>
          </a:prstGeom>
          <a:noFill/>
        </p:spPr>
        <p:txBody>
          <a:bodyPr wrap="square" rtlCol="0">
            <a:spAutoFit/>
          </a:bodyPr>
          <a:lstStyle/>
          <a:p>
            <a:r>
              <a:rPr lang="en-US" b="1" dirty="0"/>
              <a:t>GROUP BY FUNCTION</a:t>
            </a:r>
            <a:endParaRPr lang="en-IN" b="1" dirty="0"/>
          </a:p>
        </p:txBody>
      </p:sp>
      <p:sp>
        <p:nvSpPr>
          <p:cNvPr id="24" name="TextBox 23">
            <a:extLst>
              <a:ext uri="{FF2B5EF4-FFF2-40B4-BE49-F238E27FC236}">
                <a16:creationId xmlns:a16="http://schemas.microsoft.com/office/drawing/2014/main" id="{A04A2A7C-3FED-64DB-BE3A-BC0F6B12C03F}"/>
              </a:ext>
            </a:extLst>
          </p:cNvPr>
          <p:cNvSpPr txBox="1"/>
          <p:nvPr/>
        </p:nvSpPr>
        <p:spPr>
          <a:xfrm>
            <a:off x="6553200" y="4380170"/>
            <a:ext cx="2642010" cy="369332"/>
          </a:xfrm>
          <a:prstGeom prst="rect">
            <a:avLst/>
          </a:prstGeom>
          <a:noFill/>
        </p:spPr>
        <p:txBody>
          <a:bodyPr wrap="square">
            <a:spAutoFit/>
          </a:bodyPr>
          <a:lstStyle/>
          <a:p>
            <a:r>
              <a:rPr lang="en-US" b="1" dirty="0"/>
              <a:t>HAVING CLAUSE</a:t>
            </a:r>
            <a:endParaRPr lang="en-IN" b="1" dirty="0"/>
          </a:p>
        </p:txBody>
      </p:sp>
      <p:pic>
        <p:nvPicPr>
          <p:cNvPr id="26" name="Picture 25">
            <a:extLst>
              <a:ext uri="{FF2B5EF4-FFF2-40B4-BE49-F238E27FC236}">
                <a16:creationId xmlns:a16="http://schemas.microsoft.com/office/drawing/2014/main" id="{FD28A456-E751-D432-7A2A-296BF87049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53200" y="6971124"/>
            <a:ext cx="2943225" cy="447675"/>
          </a:xfrm>
          <a:prstGeom prst="rect">
            <a:avLst/>
          </a:prstGeom>
        </p:spPr>
      </p:pic>
      <p:sp>
        <p:nvSpPr>
          <p:cNvPr id="32" name="TextBox 31">
            <a:extLst>
              <a:ext uri="{FF2B5EF4-FFF2-40B4-BE49-F238E27FC236}">
                <a16:creationId xmlns:a16="http://schemas.microsoft.com/office/drawing/2014/main" id="{2F7D520F-A9C3-F2D9-FFB2-66857E2D4051}"/>
              </a:ext>
            </a:extLst>
          </p:cNvPr>
          <p:cNvSpPr txBox="1"/>
          <p:nvPr/>
        </p:nvSpPr>
        <p:spPr>
          <a:xfrm>
            <a:off x="5311442" y="4849189"/>
            <a:ext cx="4780412" cy="830997"/>
          </a:xfrm>
          <a:prstGeom prst="rect">
            <a:avLst/>
          </a:prstGeom>
          <a:noFill/>
        </p:spPr>
        <p:txBody>
          <a:bodyPr wrap="square">
            <a:spAutoFit/>
          </a:bodyPr>
          <a:lstStyle/>
          <a:p>
            <a:r>
              <a:rPr lang="en-IN" sz="1600" dirty="0"/>
              <a:t>SELECT Designation, COUNT(*) AS </a:t>
            </a:r>
            <a:r>
              <a:rPr lang="en-IN" sz="1600" dirty="0" err="1"/>
              <a:t>Student_Count</a:t>
            </a:r>
            <a:r>
              <a:rPr lang="en-IN" sz="1600" dirty="0"/>
              <a:t> FROM STUDENTGROUP BY </a:t>
            </a:r>
            <a:r>
              <a:rPr lang="en-IN" sz="1600" dirty="0" err="1"/>
              <a:t>DesignationHAVING</a:t>
            </a:r>
            <a:r>
              <a:rPr lang="en-IN" sz="1600" dirty="0"/>
              <a:t> COUNT(*) &gt; 1;</a:t>
            </a:r>
          </a:p>
        </p:txBody>
      </p:sp>
      <p:sp>
        <p:nvSpPr>
          <p:cNvPr id="36" name="TextBox 35">
            <a:extLst>
              <a:ext uri="{FF2B5EF4-FFF2-40B4-BE49-F238E27FC236}">
                <a16:creationId xmlns:a16="http://schemas.microsoft.com/office/drawing/2014/main" id="{789EEDCF-31C0-2B8B-2915-058775917F66}"/>
              </a:ext>
            </a:extLst>
          </p:cNvPr>
          <p:cNvSpPr txBox="1"/>
          <p:nvPr/>
        </p:nvSpPr>
        <p:spPr>
          <a:xfrm>
            <a:off x="5867400" y="6390823"/>
            <a:ext cx="1219200" cy="369332"/>
          </a:xfrm>
          <a:prstGeom prst="rect">
            <a:avLst/>
          </a:prstGeom>
          <a:noFill/>
        </p:spPr>
        <p:txBody>
          <a:bodyPr wrap="square">
            <a:spAutoFit/>
          </a:bodyPr>
          <a:lstStyle/>
          <a:p>
            <a:r>
              <a:rPr lang="en-US" b="1" dirty="0"/>
              <a:t>Output:</a:t>
            </a:r>
            <a:endParaRPr lang="en-IN" b="1" dirty="0"/>
          </a:p>
        </p:txBody>
      </p:sp>
      <p:sp>
        <p:nvSpPr>
          <p:cNvPr id="38" name="TextBox 37">
            <a:extLst>
              <a:ext uri="{FF2B5EF4-FFF2-40B4-BE49-F238E27FC236}">
                <a16:creationId xmlns:a16="http://schemas.microsoft.com/office/drawing/2014/main" id="{DFF2547C-8E2C-0662-C5D6-BD67ADB43641}"/>
              </a:ext>
            </a:extLst>
          </p:cNvPr>
          <p:cNvSpPr txBox="1"/>
          <p:nvPr/>
        </p:nvSpPr>
        <p:spPr>
          <a:xfrm>
            <a:off x="480950" y="6206702"/>
            <a:ext cx="1179241" cy="369332"/>
          </a:xfrm>
          <a:prstGeom prst="rect">
            <a:avLst/>
          </a:prstGeom>
          <a:noFill/>
        </p:spPr>
        <p:txBody>
          <a:bodyPr wrap="square">
            <a:spAutoFit/>
          </a:bodyPr>
          <a:lstStyle/>
          <a:p>
            <a:r>
              <a:rPr lang="en-US" b="1" dirty="0"/>
              <a:t>Output:</a:t>
            </a:r>
            <a:endParaRPr lang="en-IN" b="1" dirty="0"/>
          </a:p>
        </p:txBody>
      </p:sp>
    </p:spTree>
    <p:extLst>
      <p:ext uri="{BB962C8B-B14F-4D97-AF65-F5344CB8AC3E}">
        <p14:creationId xmlns:p14="http://schemas.microsoft.com/office/powerpoint/2010/main" val="1129464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907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2667000" y="85008"/>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3200400"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INTEGRITY &amp; VALIDATION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457200" y="1676400"/>
            <a:ext cx="9144000" cy="5078313"/>
          </a:xfrm>
          <a:prstGeom prst="rect">
            <a:avLst/>
          </a:prstGeom>
          <a:noFill/>
        </p:spPr>
        <p:txBody>
          <a:bodyPr wrap="square">
            <a:spAutoFit/>
          </a:bodyPr>
          <a:lstStyle/>
          <a:p>
            <a:r>
              <a:rPr lang="en-IN" b="1" dirty="0"/>
              <a:t>Constraints prevent duplicate and invalid data and maintain the accuracy and integrity of the database.</a:t>
            </a:r>
            <a:endParaRPr lang="en-IN" dirty="0"/>
          </a:p>
          <a:p>
            <a:endParaRPr lang="en-IN" b="1" dirty="0"/>
          </a:p>
          <a:p>
            <a:endParaRPr lang="en-IN" b="1" dirty="0"/>
          </a:p>
          <a:p>
            <a:r>
              <a:rPr lang="en-IN" b="1" dirty="0"/>
              <a:t>Constraints &amp; Validation</a:t>
            </a:r>
          </a:p>
          <a:p>
            <a:endParaRPr lang="en-IN" b="1" dirty="0"/>
          </a:p>
          <a:p>
            <a:pPr lvl="0"/>
            <a:r>
              <a:rPr lang="en-IN" b="1" dirty="0"/>
              <a:t>Primary Key (PK):</a:t>
            </a:r>
            <a:r>
              <a:rPr lang="en-IN" dirty="0"/>
              <a:t> Ensures no duplicate IDs in each table.</a:t>
            </a:r>
          </a:p>
          <a:p>
            <a:pPr lvl="0"/>
            <a:endParaRPr lang="en-IN" dirty="0"/>
          </a:p>
          <a:p>
            <a:pPr lvl="0"/>
            <a:r>
              <a:rPr lang="en-IN" b="1" dirty="0"/>
              <a:t>Foreign Key (FK):</a:t>
            </a:r>
            <a:r>
              <a:rPr lang="en-IN" dirty="0"/>
              <a:t> Maintains valid relationships between tables.</a:t>
            </a:r>
          </a:p>
          <a:p>
            <a:pPr lvl="0"/>
            <a:endParaRPr lang="en-IN" dirty="0"/>
          </a:p>
          <a:p>
            <a:pPr lvl="0"/>
            <a:r>
              <a:rPr lang="en-IN" b="1" dirty="0"/>
              <a:t>UNIQUE:</a:t>
            </a:r>
            <a:r>
              <a:rPr lang="en-IN" dirty="0"/>
              <a:t> Prevents duplicate values such as email IDs.</a:t>
            </a:r>
          </a:p>
          <a:p>
            <a:pPr lvl="0"/>
            <a:endParaRPr lang="en-IN" dirty="0"/>
          </a:p>
          <a:p>
            <a:pPr lvl="0"/>
            <a:r>
              <a:rPr lang="en-IN" b="1" dirty="0"/>
              <a:t>NOT NULL:</a:t>
            </a:r>
            <a:r>
              <a:rPr lang="en-IN" dirty="0"/>
              <a:t> Ensures important fields are not left empty.</a:t>
            </a:r>
          </a:p>
          <a:p>
            <a:pPr lvl="0"/>
            <a:endParaRPr lang="en-IN" dirty="0"/>
          </a:p>
          <a:p>
            <a:pPr lvl="0"/>
            <a:r>
              <a:rPr lang="en-IN" b="1" dirty="0"/>
              <a:t>CHECK:</a:t>
            </a:r>
            <a:r>
              <a:rPr lang="en-IN" dirty="0"/>
              <a:t> Allows only valid values, such as correct status, priority, salary, and budget.</a:t>
            </a:r>
          </a:p>
          <a:p>
            <a:pPr lvl="0"/>
            <a:endParaRPr lang="en-IN" dirty="0"/>
          </a:p>
          <a:p>
            <a:pPr lvl="0"/>
            <a:r>
              <a:rPr lang="en-IN" b="1" dirty="0"/>
              <a:t>Validation:</a:t>
            </a:r>
            <a:r>
              <a:rPr lang="en-IN" dirty="0"/>
              <a:t> Ensures the data entered is accurate and consistent.</a:t>
            </a:r>
          </a:p>
          <a:p>
            <a:r>
              <a:rPr lang="en-IN" dirty="0"/>
              <a:t> </a:t>
            </a:r>
          </a:p>
        </p:txBody>
      </p:sp>
    </p:spTree>
    <p:extLst>
      <p:ext uri="{BB962C8B-B14F-4D97-AF65-F5344CB8AC3E}">
        <p14:creationId xmlns:p14="http://schemas.microsoft.com/office/powerpoint/2010/main" val="26077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872251" y="2362200"/>
            <a:ext cx="8574881" cy="3231654"/>
          </a:xfrm>
          <a:prstGeom prst="rect">
            <a:avLst/>
          </a:prstGeom>
          <a:noFill/>
        </p:spPr>
        <p:txBody>
          <a:bodyPr wrap="square" rtlCol="0">
            <a:spAutoFit/>
          </a:bodyPr>
          <a:lstStyle/>
          <a:p>
            <a:pPr algn="just">
              <a:defRPr sz="1800"/>
            </a:pPr>
            <a:r>
              <a:t>The University Academic Management System successfully demonstrates the use of an Oracle relational database for managing university academic activities. The system organizes information about students, departments, faculty, courses, enrollments, and examinations using related tables. Primary keys, foreign keys, unique constraints, check constraints, and referential integrity help maintain accurate and consistent data. SQL operations such as DDL, DML, CRUD, joins, aggregate functions, grouping, subqueries, and views can be used to retrieve and manage information efficiently. The project provides practical understanding of database design, relationships, normalization, SQL queries, and DBMS concepts.</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2715</TotalTime>
  <Words>1929</Words>
  <Application>Microsoft Office PowerPoint</Application>
  <PresentationFormat>Custom</PresentationFormat>
  <Paragraphs>378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Cambria</vt:lpstr>
      <vt:lpstr>Palatino Linotype</vt:lpstr>
      <vt:lpstr>Times New Roman</vt:lpstr>
      <vt:lpstr>Wingdings</vt:lpstr>
      <vt:lpstr>Office Theme</vt:lpstr>
      <vt:lpstr>Database Management Systems Cornerstone Course Final Review (Review I &amp; II)</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Bandi Taraka Rajesh</cp:lastModifiedBy>
  <cp:revision>51</cp:revision>
  <cp:lastPrinted>2025-10-14T18:21:49Z</cp:lastPrinted>
  <dcterms:created xsi:type="dcterms:W3CDTF">2025-10-10T08:28:06Z</dcterms:created>
  <dcterms:modified xsi:type="dcterms:W3CDTF">2026-09-25T15:02:24Z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